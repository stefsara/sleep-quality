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21"/>
  </p:notesMasterIdLst>
  <p:sldIdLst>
    <p:sldId id="256" r:id="rId2"/>
    <p:sldId id="25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6" r:id="rId12"/>
    <p:sldId id="307" r:id="rId13"/>
    <p:sldId id="308" r:id="rId14"/>
    <p:sldId id="309" r:id="rId15"/>
    <p:sldId id="310" r:id="rId16"/>
    <p:sldId id="311" r:id="rId17"/>
    <p:sldId id="312" r:id="rId18"/>
    <p:sldId id="313" r:id="rId19"/>
    <p:sldId id="314" r:id="rId20"/>
  </p:sldIdLst>
  <p:sldSz cx="9144000" cy="5143500" type="screen16x9"/>
  <p:notesSz cx="6858000" cy="9144000"/>
  <p:embeddedFontLst>
    <p:embeddedFont>
      <p:font typeface="Work Sans Light" panose="020B0604020202020204" charset="0"/>
      <p:regular r:id="rId22"/>
      <p:bold r:id="rId23"/>
      <p:italic r:id="rId24"/>
      <p:boldItalic r:id="rId25"/>
    </p:embeddedFont>
    <p:embeddedFont>
      <p:font typeface="Work Sans SemiBold" panose="020B0604020202020204" charset="0"/>
      <p:regular r:id="rId26"/>
      <p:bold r:id="rId27"/>
      <p:italic r:id="rId28"/>
      <p:boldItalic r:id="rId29"/>
    </p:embeddedFont>
    <p:embeddedFont>
      <p:font typeface="Work Sans Medium" panose="020B0604020202020204" charset="0"/>
      <p:regular r:id="rId30"/>
      <p:bold r:id="rId31"/>
      <p:italic r:id="rId32"/>
      <p:boldItalic r:id="rId33"/>
    </p:embeddedFont>
    <p:embeddedFont>
      <p:font typeface="Inter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3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76175E-B574-4753-9063-E3D0430CDD5A}">
  <a:tblStyle styleId="{4676175E-B574-4753-9063-E3D0430CDD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6AFD91D-18F5-434C-9815-CE4364E8051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07" autoAdjust="0"/>
    <p:restoredTop sz="93369" autoAdjust="0"/>
  </p:normalViewPr>
  <p:slideViewPr>
    <p:cSldViewPr snapToGrid="0" showGuides="1">
      <p:cViewPr>
        <p:scale>
          <a:sx n="86" d="100"/>
          <a:sy n="86" d="100"/>
        </p:scale>
        <p:origin x="1104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8464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5026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002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471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436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1346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885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8344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5023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7877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34359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137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70800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76111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304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7ab366567_0_279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7ab366567_0_279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36984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8695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dk2"/>
            </a:gs>
            <a:gs pos="36000">
              <a:schemeClr val="lt2"/>
            </a:gs>
            <a:gs pos="71000">
              <a:schemeClr val="lt2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713225" y="4520575"/>
            <a:ext cx="2412900" cy="33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48300" y="1037488"/>
            <a:ext cx="6784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Work Sans Medium"/>
                <a:ea typeface="Work Sans Medium"/>
                <a:cs typeface="Work Sans Medium"/>
                <a:sym typeface="Work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2"/>
          </p:nvPr>
        </p:nvSpPr>
        <p:spPr>
          <a:xfrm>
            <a:off x="748400" y="3026213"/>
            <a:ext cx="67842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accent1"/>
            </a:gs>
            <a:gs pos="13000">
              <a:schemeClr val="lt2"/>
            </a:gs>
            <a:gs pos="52999">
              <a:schemeClr val="dk2"/>
            </a:gs>
            <a:gs pos="85000">
              <a:schemeClr val="lt2"/>
            </a:gs>
            <a:gs pos="100000">
              <a:schemeClr val="accent1"/>
            </a:gs>
          </a:gsLst>
          <a:lin ang="8099331" scaled="0"/>
        </a:gra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dk2"/>
            </a:gs>
            <a:gs pos="22000">
              <a:schemeClr val="lt2"/>
            </a:gs>
            <a:gs pos="61000">
              <a:schemeClr val="dk2"/>
            </a:gs>
            <a:gs pos="90000">
              <a:schemeClr val="dk2"/>
            </a:gs>
            <a:gs pos="100000">
              <a:schemeClr val="accent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gradFill>
            <a:gsLst>
              <a:gs pos="0">
                <a:schemeClr val="dk2"/>
              </a:gs>
              <a:gs pos="36000">
                <a:schemeClr val="lt2"/>
              </a:gs>
              <a:gs pos="71000">
                <a:schemeClr val="lt2"/>
              </a:gs>
              <a:gs pos="100000">
                <a:schemeClr val="accent1"/>
              </a:gs>
            </a:gsLst>
            <a:lin ang="13500032" scaled="0"/>
          </a:gra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">
    <p:bg>
      <p:bgPr>
        <a:gradFill>
          <a:gsLst>
            <a:gs pos="0">
              <a:schemeClr val="dk2"/>
            </a:gs>
            <a:gs pos="25000">
              <a:schemeClr val="dk2"/>
            </a:gs>
            <a:gs pos="71000">
              <a:schemeClr val="lt2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713225" y="1626275"/>
            <a:ext cx="3746100" cy="273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3305400" cy="10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bg>
      <p:bgPr>
        <a:gradFill>
          <a:gsLst>
            <a:gs pos="0">
              <a:schemeClr val="accent1"/>
            </a:gs>
            <a:gs pos="10000">
              <a:schemeClr val="lt2"/>
            </a:gs>
            <a:gs pos="16000">
              <a:schemeClr val="accent1"/>
            </a:gs>
            <a:gs pos="23000">
              <a:schemeClr val="dk2"/>
            </a:gs>
            <a:gs pos="80000">
              <a:schemeClr val="dk2"/>
            </a:gs>
            <a:gs pos="91000">
              <a:schemeClr val="accent1"/>
            </a:gs>
            <a:gs pos="96000">
              <a:schemeClr val="lt2"/>
            </a:gs>
            <a:gs pos="100000">
              <a:schemeClr val="accent1"/>
            </a:gs>
          </a:gsLst>
          <a:lin ang="13500032" scaled="0"/>
        </a:gra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gradFill>
          <a:gsLst>
            <a:gs pos="0">
              <a:schemeClr val="accent1"/>
            </a:gs>
            <a:gs pos="10000">
              <a:schemeClr val="lt2"/>
            </a:gs>
            <a:gs pos="23000">
              <a:schemeClr val="dk2"/>
            </a:gs>
            <a:gs pos="75000">
              <a:schemeClr val="dk2"/>
            </a:gs>
            <a:gs pos="89000">
              <a:schemeClr val="lt2"/>
            </a:gs>
            <a:gs pos="100000">
              <a:schemeClr val="accent1"/>
            </a:gs>
          </a:gsLst>
          <a:lin ang="16200038" scaled="0"/>
        </a:gra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61" r:id="rId6"/>
    <p:sldLayoutId id="2147483674" r:id="rId7"/>
    <p:sldLayoutId id="2147483675" r:id="rId8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subTitle" idx="1"/>
          </p:nvPr>
        </p:nvSpPr>
        <p:spPr>
          <a:xfrm>
            <a:off x="585785" y="4351450"/>
            <a:ext cx="24129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Sara Stefanovi</a:t>
            </a:r>
            <a:r>
              <a:rPr lang="sr-Latn-RS" dirty="0" smtClean="0"/>
              <a:t>ć IN55/2020</a:t>
            </a:r>
            <a:endParaRPr dirty="0"/>
          </a:p>
        </p:txBody>
      </p:sp>
      <p:sp>
        <p:nvSpPr>
          <p:cNvPr id="135" name="Google Shape;135;p33"/>
          <p:cNvSpPr txBox="1">
            <a:spLocks noGrp="1"/>
          </p:cNvSpPr>
          <p:nvPr>
            <p:ph type="ctrTitle"/>
          </p:nvPr>
        </p:nvSpPr>
        <p:spPr>
          <a:xfrm>
            <a:off x="748300" y="1037488"/>
            <a:ext cx="6784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800" dirty="0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Eksplorativna analiza kvaliteta sna i njegova korelacija sa zdravljem i načinom života</a:t>
            </a:r>
            <a:endParaRPr sz="2800" dirty="0">
              <a:latin typeface="Inter" panose="020B0604020202020204" charset="0"/>
              <a:ea typeface="Inter" panose="020B0604020202020204" charset="0"/>
              <a:cs typeface="Work Sans Light"/>
              <a:sym typeface="Work Sans Light"/>
            </a:endParaRPr>
          </a:p>
        </p:txBody>
      </p:sp>
      <p:cxnSp>
        <p:nvCxnSpPr>
          <p:cNvPr id="137" name="Google Shape;137;p33"/>
          <p:cNvCxnSpPr/>
          <p:nvPr/>
        </p:nvCxnSpPr>
        <p:spPr>
          <a:xfrm rot="10800000">
            <a:off x="-699350" y="4351450"/>
            <a:ext cx="3307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>
            <a:spLocks noGrp="1"/>
          </p:cNvSpPr>
          <p:nvPr>
            <p:ph type="title"/>
          </p:nvPr>
        </p:nvSpPr>
        <p:spPr>
          <a:xfrm>
            <a:off x="719998" y="280274"/>
            <a:ext cx="4693665" cy="4382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Odabir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skupa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podataka</a:t>
            </a:r>
            <a:endParaRPr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9998" y="882887"/>
            <a:ext cx="7520753" cy="3220442"/>
          </a:xfrm>
        </p:spPr>
        <p:txBody>
          <a:bodyPr/>
          <a:lstStyle/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smtClean="0"/>
              <a:t>Sleep Health and Lifestyle Dataset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smtClean="0"/>
              <a:t>Sleep Health: </a:t>
            </a:r>
          </a:p>
          <a:p>
            <a:pPr marL="152400" indent="0">
              <a:buNone/>
            </a:pPr>
            <a:r>
              <a:rPr lang="en-US" dirty="0"/>
              <a:t>	D</a:t>
            </a:r>
            <a:r>
              <a:rPr lang="en-US" dirty="0" smtClean="0"/>
              <a:t>uration of Sleep (5.8 – 8.5)</a:t>
            </a:r>
          </a:p>
          <a:p>
            <a:pPr marL="152400" indent="0">
              <a:buNone/>
            </a:pPr>
            <a:r>
              <a:rPr lang="en-US" dirty="0"/>
              <a:t>	Q</a:t>
            </a:r>
            <a:r>
              <a:rPr lang="en-US" dirty="0" smtClean="0"/>
              <a:t>uality of Sleep (4 - 9)</a:t>
            </a:r>
          </a:p>
          <a:p>
            <a:pPr marL="152400" indent="0">
              <a:buNone/>
            </a:pPr>
            <a:r>
              <a:rPr lang="en-US" dirty="0"/>
              <a:t>	S</a:t>
            </a:r>
            <a:r>
              <a:rPr lang="en-US" dirty="0" smtClean="0"/>
              <a:t>leep </a:t>
            </a:r>
            <a:r>
              <a:rPr lang="en-US" dirty="0"/>
              <a:t>D</a:t>
            </a:r>
            <a:r>
              <a:rPr lang="en-US" dirty="0" smtClean="0"/>
              <a:t>isorder (Insomnia, Sleep apnea)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smtClean="0"/>
              <a:t>Lifestyle:</a:t>
            </a:r>
          </a:p>
          <a:p>
            <a:pPr marL="152400" indent="0">
              <a:buNone/>
            </a:pPr>
            <a:r>
              <a:rPr lang="en-US" dirty="0"/>
              <a:t>	O</a:t>
            </a:r>
            <a:r>
              <a:rPr lang="en-US" dirty="0" smtClean="0"/>
              <a:t>ccupation (Software Engineer, Doctor, Sales Representative, Teacher, Nurse, Engineer, 	Accountant, Scientist, Lawyer, Salesperson, Manager)</a:t>
            </a:r>
          </a:p>
          <a:p>
            <a:pPr marL="152400" indent="0">
              <a:buNone/>
            </a:pPr>
            <a:r>
              <a:rPr lang="en-US" dirty="0"/>
              <a:t>	S</a:t>
            </a:r>
            <a:r>
              <a:rPr lang="en-US" dirty="0" smtClean="0"/>
              <a:t>tress </a:t>
            </a:r>
            <a:r>
              <a:rPr lang="en-US" dirty="0"/>
              <a:t>L</a:t>
            </a:r>
            <a:r>
              <a:rPr lang="en-US" dirty="0" smtClean="0"/>
              <a:t>evel (3 - 8)</a:t>
            </a:r>
          </a:p>
          <a:p>
            <a:pPr marL="152400" indent="0">
              <a:buNone/>
            </a:pPr>
            <a:r>
              <a:rPr lang="en-US" dirty="0"/>
              <a:t>	Physical Activity </a:t>
            </a:r>
            <a:r>
              <a:rPr lang="en-US" dirty="0" smtClean="0"/>
              <a:t>Level (30 - 90)</a:t>
            </a:r>
          </a:p>
          <a:p>
            <a:pPr marL="152400" indent="0">
              <a:buNone/>
            </a:pPr>
            <a:r>
              <a:rPr lang="en-US" dirty="0"/>
              <a:t>	</a:t>
            </a:r>
            <a:r>
              <a:rPr lang="en-US" dirty="0" smtClean="0"/>
              <a:t>BMI Category (Normal, Normal Weight, Overweight, Obese)</a:t>
            </a:r>
          </a:p>
          <a:p>
            <a:pPr marL="152400" indent="0">
              <a:buNone/>
            </a:pPr>
            <a:r>
              <a:rPr lang="en-US" dirty="0"/>
              <a:t>	Daily Steps </a:t>
            </a:r>
            <a:endParaRPr lang="en-US" dirty="0" smtClean="0"/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err="1" smtClean="0"/>
              <a:t>Zdravlje</a:t>
            </a:r>
            <a:r>
              <a:rPr lang="en-US" dirty="0" smtClean="0"/>
              <a:t> </a:t>
            </a:r>
            <a:r>
              <a:rPr lang="en-US" dirty="0" err="1" smtClean="0"/>
              <a:t>kardiovaskularnog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:</a:t>
            </a:r>
          </a:p>
          <a:p>
            <a:pPr marL="152400" indent="0">
              <a:buNone/>
            </a:pPr>
            <a:r>
              <a:rPr lang="en-US" dirty="0" smtClean="0"/>
              <a:t>	Heart rate</a:t>
            </a:r>
          </a:p>
          <a:p>
            <a:pPr marL="152400" indent="0">
              <a:buNone/>
            </a:pPr>
            <a:r>
              <a:rPr lang="en-US" dirty="0"/>
              <a:t>	</a:t>
            </a:r>
            <a:r>
              <a:rPr lang="en-US" dirty="0" smtClean="0"/>
              <a:t>Blood pressure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smtClean="0"/>
              <a:t>Age (27 - 59)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r>
              <a:rPr lang="en-US" dirty="0" smtClean="0"/>
              <a:t>Gender (Male, Female)</a:t>
            </a:r>
          </a:p>
          <a:p>
            <a:pPr marL="323850" indent="-1714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  <a:p>
            <a:pPr marL="609600" lvl="1" indent="0">
              <a:buNone/>
            </a:pPr>
            <a:endParaRPr lang="en-US" dirty="0" smtClean="0"/>
          </a:p>
          <a:p>
            <a:pPr marL="152400" indent="0">
              <a:buNone/>
            </a:pPr>
            <a:endParaRPr lang="en-US" dirty="0" smtClean="0"/>
          </a:p>
          <a:p>
            <a:pPr marL="15240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15240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152400" indent="0">
              <a:buNone/>
            </a:pPr>
            <a:endParaRPr lang="en-US" dirty="0"/>
          </a:p>
        </p:txBody>
      </p:sp>
      <p:cxnSp>
        <p:nvCxnSpPr>
          <p:cNvPr id="11" name="Google Shape;137;p33"/>
          <p:cNvCxnSpPr/>
          <p:nvPr/>
        </p:nvCxnSpPr>
        <p:spPr>
          <a:xfrm rot="10800000">
            <a:off x="-699350" y="4351450"/>
            <a:ext cx="3307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34;p33"/>
          <p:cNvSpPr txBox="1">
            <a:spLocks/>
          </p:cNvSpPr>
          <p:nvPr/>
        </p:nvSpPr>
        <p:spPr>
          <a:xfrm>
            <a:off x="0" y="4351450"/>
            <a:ext cx="4744751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sr-Latn-RS" sz="900" dirty="0"/>
              <a:t>https://www.kaggle.com/datasets/uom190346a/sleep-health-and-lifestyle-dataset</a:t>
            </a:r>
            <a:endParaRPr lang="en-US" sz="900" dirty="0"/>
          </a:p>
        </p:txBody>
      </p:sp>
      <p:grpSp>
        <p:nvGrpSpPr>
          <p:cNvPr id="14" name="Google Shape;11420;p71"/>
          <p:cNvGrpSpPr/>
          <p:nvPr/>
        </p:nvGrpSpPr>
        <p:grpSpPr>
          <a:xfrm>
            <a:off x="324003" y="367031"/>
            <a:ext cx="306759" cy="351445"/>
            <a:chOff x="859262" y="3353920"/>
            <a:chExt cx="306759" cy="351445"/>
          </a:xfrm>
        </p:grpSpPr>
        <p:sp>
          <p:nvSpPr>
            <p:cNvPr id="15" name="Google Shape;11421;p71"/>
            <p:cNvSpPr/>
            <p:nvPr/>
          </p:nvSpPr>
          <p:spPr>
            <a:xfrm>
              <a:off x="859262" y="3415718"/>
              <a:ext cx="132563" cy="205937"/>
            </a:xfrm>
            <a:custGeom>
              <a:avLst/>
              <a:gdLst/>
              <a:ahLst/>
              <a:cxnLst/>
              <a:rect l="l" t="t" r="r" b="b"/>
              <a:pathLst>
                <a:path w="4168" h="6475" extrusionOk="0">
                  <a:moveTo>
                    <a:pt x="1444" y="0"/>
                  </a:moveTo>
                  <a:cubicBezTo>
                    <a:pt x="1418" y="0"/>
                    <a:pt x="1392" y="7"/>
                    <a:pt x="1369" y="22"/>
                  </a:cubicBezTo>
                  <a:lnTo>
                    <a:pt x="262" y="665"/>
                  </a:lnTo>
                  <a:cubicBezTo>
                    <a:pt x="0" y="808"/>
                    <a:pt x="0" y="1200"/>
                    <a:pt x="262" y="1367"/>
                  </a:cubicBezTo>
                  <a:lnTo>
                    <a:pt x="1143" y="1867"/>
                  </a:lnTo>
                  <a:lnTo>
                    <a:pt x="429" y="2284"/>
                  </a:lnTo>
                  <a:cubicBezTo>
                    <a:pt x="83" y="2474"/>
                    <a:pt x="83" y="2974"/>
                    <a:pt x="429" y="3165"/>
                  </a:cubicBezTo>
                  <a:lnTo>
                    <a:pt x="1167" y="3594"/>
                  </a:lnTo>
                  <a:lnTo>
                    <a:pt x="417" y="4022"/>
                  </a:lnTo>
                  <a:cubicBezTo>
                    <a:pt x="71" y="4225"/>
                    <a:pt x="71" y="4713"/>
                    <a:pt x="417" y="4903"/>
                  </a:cubicBezTo>
                  <a:lnTo>
                    <a:pt x="1155" y="5332"/>
                  </a:lnTo>
                  <a:lnTo>
                    <a:pt x="917" y="5463"/>
                  </a:lnTo>
                  <a:cubicBezTo>
                    <a:pt x="774" y="5558"/>
                    <a:pt x="833" y="5784"/>
                    <a:pt x="1012" y="5784"/>
                  </a:cubicBezTo>
                  <a:cubicBezTo>
                    <a:pt x="1084" y="5784"/>
                    <a:pt x="1095" y="5749"/>
                    <a:pt x="1488" y="5522"/>
                  </a:cubicBezTo>
                  <a:lnTo>
                    <a:pt x="3119" y="6463"/>
                  </a:lnTo>
                  <a:cubicBezTo>
                    <a:pt x="3155" y="6475"/>
                    <a:pt x="3179" y="6475"/>
                    <a:pt x="3191" y="6475"/>
                  </a:cubicBezTo>
                  <a:cubicBezTo>
                    <a:pt x="3250" y="6475"/>
                    <a:pt x="3310" y="6451"/>
                    <a:pt x="3346" y="6392"/>
                  </a:cubicBezTo>
                  <a:cubicBezTo>
                    <a:pt x="3393" y="6320"/>
                    <a:pt x="3358" y="6213"/>
                    <a:pt x="3286" y="6165"/>
                  </a:cubicBezTo>
                  <a:cubicBezTo>
                    <a:pt x="2643" y="5796"/>
                    <a:pt x="1226" y="4987"/>
                    <a:pt x="560" y="4618"/>
                  </a:cubicBezTo>
                  <a:cubicBezTo>
                    <a:pt x="441" y="4546"/>
                    <a:pt x="441" y="4368"/>
                    <a:pt x="560" y="4308"/>
                  </a:cubicBezTo>
                  <a:lnTo>
                    <a:pt x="1476" y="3772"/>
                  </a:lnTo>
                  <a:cubicBezTo>
                    <a:pt x="1498" y="3782"/>
                    <a:pt x="1520" y="3786"/>
                    <a:pt x="1541" y="3786"/>
                  </a:cubicBezTo>
                  <a:cubicBezTo>
                    <a:pt x="1627" y="3786"/>
                    <a:pt x="1705" y="3717"/>
                    <a:pt x="1715" y="3641"/>
                  </a:cubicBezTo>
                  <a:cubicBezTo>
                    <a:pt x="1715" y="3582"/>
                    <a:pt x="1691" y="3522"/>
                    <a:pt x="1631" y="3486"/>
                  </a:cubicBezTo>
                  <a:lnTo>
                    <a:pt x="1476" y="3403"/>
                  </a:lnTo>
                  <a:lnTo>
                    <a:pt x="560" y="2879"/>
                  </a:lnTo>
                  <a:cubicBezTo>
                    <a:pt x="441" y="2808"/>
                    <a:pt x="441" y="2629"/>
                    <a:pt x="560" y="2570"/>
                  </a:cubicBezTo>
                  <a:lnTo>
                    <a:pt x="1441" y="2058"/>
                  </a:lnTo>
                  <a:lnTo>
                    <a:pt x="3870" y="3439"/>
                  </a:lnTo>
                  <a:cubicBezTo>
                    <a:pt x="3893" y="3463"/>
                    <a:pt x="3929" y="3463"/>
                    <a:pt x="3941" y="3463"/>
                  </a:cubicBezTo>
                  <a:cubicBezTo>
                    <a:pt x="4001" y="3463"/>
                    <a:pt x="4060" y="3427"/>
                    <a:pt x="4084" y="3367"/>
                  </a:cubicBezTo>
                  <a:cubicBezTo>
                    <a:pt x="4167" y="3296"/>
                    <a:pt x="4132" y="3189"/>
                    <a:pt x="4060" y="3153"/>
                  </a:cubicBezTo>
                  <a:cubicBezTo>
                    <a:pt x="1262" y="1558"/>
                    <a:pt x="3215" y="2653"/>
                    <a:pt x="429" y="1069"/>
                  </a:cubicBezTo>
                  <a:cubicBezTo>
                    <a:pt x="381" y="1034"/>
                    <a:pt x="381" y="962"/>
                    <a:pt x="429" y="950"/>
                  </a:cubicBezTo>
                  <a:lnTo>
                    <a:pt x="1524" y="307"/>
                  </a:lnTo>
                  <a:cubicBezTo>
                    <a:pt x="1607" y="260"/>
                    <a:pt x="1631" y="153"/>
                    <a:pt x="1584" y="81"/>
                  </a:cubicBezTo>
                  <a:cubicBezTo>
                    <a:pt x="1559" y="32"/>
                    <a:pt x="1501" y="0"/>
                    <a:pt x="144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422;p71"/>
            <p:cNvSpPr/>
            <p:nvPr/>
          </p:nvSpPr>
          <p:spPr>
            <a:xfrm>
              <a:off x="916415" y="3353920"/>
              <a:ext cx="178013" cy="62147"/>
            </a:xfrm>
            <a:custGeom>
              <a:avLst/>
              <a:gdLst/>
              <a:ahLst/>
              <a:cxnLst/>
              <a:rect l="l" t="t" r="r" b="b"/>
              <a:pathLst>
                <a:path w="5597" h="1954" extrusionOk="0">
                  <a:moveTo>
                    <a:pt x="3061" y="0"/>
                  </a:moveTo>
                  <a:cubicBezTo>
                    <a:pt x="2891" y="0"/>
                    <a:pt x="2929" y="33"/>
                    <a:pt x="144" y="1631"/>
                  </a:cubicBezTo>
                  <a:cubicBezTo>
                    <a:pt x="1" y="1727"/>
                    <a:pt x="60" y="1953"/>
                    <a:pt x="239" y="1953"/>
                  </a:cubicBezTo>
                  <a:cubicBezTo>
                    <a:pt x="245" y="1953"/>
                    <a:pt x="249" y="1953"/>
                    <a:pt x="254" y="1953"/>
                  </a:cubicBezTo>
                  <a:cubicBezTo>
                    <a:pt x="317" y="1953"/>
                    <a:pt x="372" y="1901"/>
                    <a:pt x="3049" y="357"/>
                  </a:cubicBezTo>
                  <a:cubicBezTo>
                    <a:pt x="3060" y="350"/>
                    <a:pt x="3067" y="344"/>
                    <a:pt x="3080" y="344"/>
                  </a:cubicBezTo>
                  <a:cubicBezTo>
                    <a:pt x="3151" y="344"/>
                    <a:pt x="3392" y="523"/>
                    <a:pt x="5347" y="1631"/>
                  </a:cubicBezTo>
                  <a:cubicBezTo>
                    <a:pt x="5372" y="1648"/>
                    <a:pt x="5402" y="1656"/>
                    <a:pt x="5431" y="1656"/>
                  </a:cubicBezTo>
                  <a:cubicBezTo>
                    <a:pt x="5485" y="1656"/>
                    <a:pt x="5538" y="1630"/>
                    <a:pt x="5561" y="1584"/>
                  </a:cubicBezTo>
                  <a:cubicBezTo>
                    <a:pt x="5597" y="1488"/>
                    <a:pt x="5561" y="1381"/>
                    <a:pt x="5490" y="1334"/>
                  </a:cubicBezTo>
                  <a:cubicBezTo>
                    <a:pt x="3216" y="48"/>
                    <a:pt x="3263" y="0"/>
                    <a:pt x="3085" y="0"/>
                  </a:cubicBezTo>
                  <a:cubicBezTo>
                    <a:pt x="3076" y="0"/>
                    <a:pt x="3069" y="0"/>
                    <a:pt x="30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423;p71"/>
            <p:cNvSpPr/>
            <p:nvPr/>
          </p:nvSpPr>
          <p:spPr>
            <a:xfrm>
              <a:off x="920582" y="3405858"/>
              <a:ext cx="245439" cy="243817"/>
            </a:xfrm>
            <a:custGeom>
              <a:avLst/>
              <a:gdLst/>
              <a:ahLst/>
              <a:cxnLst/>
              <a:rect l="l" t="t" r="r" b="b"/>
              <a:pathLst>
                <a:path w="7717" h="7666" extrusionOk="0">
                  <a:moveTo>
                    <a:pt x="6359" y="844"/>
                  </a:moveTo>
                  <a:lnTo>
                    <a:pt x="6359" y="1808"/>
                  </a:lnTo>
                  <a:lnTo>
                    <a:pt x="5359" y="1332"/>
                  </a:lnTo>
                  <a:lnTo>
                    <a:pt x="6359" y="844"/>
                  </a:lnTo>
                  <a:close/>
                  <a:moveTo>
                    <a:pt x="5820" y="0"/>
                  </a:moveTo>
                  <a:cubicBezTo>
                    <a:pt x="5762" y="0"/>
                    <a:pt x="5701" y="33"/>
                    <a:pt x="5668" y="82"/>
                  </a:cubicBezTo>
                  <a:cubicBezTo>
                    <a:pt x="5621" y="153"/>
                    <a:pt x="5656" y="260"/>
                    <a:pt x="5728" y="308"/>
                  </a:cubicBezTo>
                  <a:lnTo>
                    <a:pt x="6144" y="546"/>
                  </a:lnTo>
                  <a:lnTo>
                    <a:pt x="4882" y="1153"/>
                  </a:lnTo>
                  <a:cubicBezTo>
                    <a:pt x="4823" y="1177"/>
                    <a:pt x="4799" y="1237"/>
                    <a:pt x="4799" y="1296"/>
                  </a:cubicBezTo>
                  <a:cubicBezTo>
                    <a:pt x="4799" y="1356"/>
                    <a:pt x="4823" y="1415"/>
                    <a:pt x="4882" y="1451"/>
                  </a:cubicBezTo>
                  <a:lnTo>
                    <a:pt x="6144" y="2058"/>
                  </a:lnTo>
                  <a:cubicBezTo>
                    <a:pt x="5656" y="2344"/>
                    <a:pt x="3204" y="3737"/>
                    <a:pt x="2954" y="3892"/>
                  </a:cubicBezTo>
                  <a:cubicBezTo>
                    <a:pt x="2942" y="3898"/>
                    <a:pt x="2930" y="3901"/>
                    <a:pt x="2916" y="3901"/>
                  </a:cubicBezTo>
                  <a:cubicBezTo>
                    <a:pt x="2903" y="3901"/>
                    <a:pt x="2888" y="3898"/>
                    <a:pt x="2870" y="3892"/>
                  </a:cubicBezTo>
                  <a:lnTo>
                    <a:pt x="2668" y="3773"/>
                  </a:lnTo>
                  <a:cubicBezTo>
                    <a:pt x="2645" y="3758"/>
                    <a:pt x="2619" y="3751"/>
                    <a:pt x="2593" y="3751"/>
                  </a:cubicBezTo>
                  <a:cubicBezTo>
                    <a:pt x="2535" y="3751"/>
                    <a:pt x="2474" y="3783"/>
                    <a:pt x="2442" y="3832"/>
                  </a:cubicBezTo>
                  <a:cubicBezTo>
                    <a:pt x="2394" y="3904"/>
                    <a:pt x="2430" y="4011"/>
                    <a:pt x="2501" y="4058"/>
                  </a:cubicBezTo>
                  <a:lnTo>
                    <a:pt x="2715" y="4177"/>
                  </a:lnTo>
                  <a:cubicBezTo>
                    <a:pt x="2775" y="4201"/>
                    <a:pt x="2846" y="4237"/>
                    <a:pt x="2906" y="4237"/>
                  </a:cubicBezTo>
                  <a:cubicBezTo>
                    <a:pt x="2977" y="4237"/>
                    <a:pt x="3037" y="4213"/>
                    <a:pt x="3096" y="4177"/>
                  </a:cubicBezTo>
                  <a:lnTo>
                    <a:pt x="6299" y="2344"/>
                  </a:lnTo>
                  <a:lnTo>
                    <a:pt x="7180" y="2844"/>
                  </a:lnTo>
                  <a:cubicBezTo>
                    <a:pt x="7299" y="2927"/>
                    <a:pt x="7299" y="3106"/>
                    <a:pt x="7180" y="3165"/>
                  </a:cubicBezTo>
                  <a:cubicBezTo>
                    <a:pt x="4823" y="4499"/>
                    <a:pt x="5823" y="3939"/>
                    <a:pt x="2989" y="5559"/>
                  </a:cubicBezTo>
                  <a:cubicBezTo>
                    <a:pt x="2960" y="5570"/>
                    <a:pt x="2930" y="5576"/>
                    <a:pt x="2900" y="5576"/>
                  </a:cubicBezTo>
                  <a:cubicBezTo>
                    <a:pt x="2870" y="5576"/>
                    <a:pt x="2840" y="5570"/>
                    <a:pt x="2811" y="5559"/>
                  </a:cubicBezTo>
                  <a:lnTo>
                    <a:pt x="275" y="4094"/>
                  </a:lnTo>
                  <a:cubicBezTo>
                    <a:pt x="249" y="4083"/>
                    <a:pt x="222" y="4078"/>
                    <a:pt x="196" y="4078"/>
                  </a:cubicBezTo>
                  <a:cubicBezTo>
                    <a:pt x="137" y="4078"/>
                    <a:pt x="81" y="4104"/>
                    <a:pt x="48" y="4154"/>
                  </a:cubicBezTo>
                  <a:cubicBezTo>
                    <a:pt x="1" y="4237"/>
                    <a:pt x="37" y="4332"/>
                    <a:pt x="108" y="4380"/>
                  </a:cubicBezTo>
                  <a:lnTo>
                    <a:pt x="2656" y="5844"/>
                  </a:lnTo>
                  <a:cubicBezTo>
                    <a:pt x="2727" y="5880"/>
                    <a:pt x="2811" y="5916"/>
                    <a:pt x="2906" y="5916"/>
                  </a:cubicBezTo>
                  <a:cubicBezTo>
                    <a:pt x="2989" y="5916"/>
                    <a:pt x="3085" y="5880"/>
                    <a:pt x="3156" y="5844"/>
                  </a:cubicBezTo>
                  <a:lnTo>
                    <a:pt x="6264" y="4070"/>
                  </a:lnTo>
                  <a:lnTo>
                    <a:pt x="7192" y="4606"/>
                  </a:lnTo>
                  <a:cubicBezTo>
                    <a:pt x="7311" y="4678"/>
                    <a:pt x="7311" y="4856"/>
                    <a:pt x="7192" y="4916"/>
                  </a:cubicBezTo>
                  <a:cubicBezTo>
                    <a:pt x="7097" y="4963"/>
                    <a:pt x="7121" y="4963"/>
                    <a:pt x="3013" y="7309"/>
                  </a:cubicBezTo>
                  <a:cubicBezTo>
                    <a:pt x="2983" y="7327"/>
                    <a:pt x="2954" y="7336"/>
                    <a:pt x="2924" y="7336"/>
                  </a:cubicBezTo>
                  <a:cubicBezTo>
                    <a:pt x="2894" y="7336"/>
                    <a:pt x="2864" y="7327"/>
                    <a:pt x="2835" y="7309"/>
                  </a:cubicBezTo>
                  <a:lnTo>
                    <a:pt x="1942" y="6797"/>
                  </a:lnTo>
                  <a:cubicBezTo>
                    <a:pt x="1913" y="6780"/>
                    <a:pt x="1883" y="6773"/>
                    <a:pt x="1854" y="6773"/>
                  </a:cubicBezTo>
                  <a:cubicBezTo>
                    <a:pt x="1798" y="6773"/>
                    <a:pt x="1747" y="6802"/>
                    <a:pt x="1715" y="6856"/>
                  </a:cubicBezTo>
                  <a:cubicBezTo>
                    <a:pt x="1668" y="6928"/>
                    <a:pt x="1703" y="7035"/>
                    <a:pt x="1775" y="7071"/>
                  </a:cubicBezTo>
                  <a:lnTo>
                    <a:pt x="2668" y="7595"/>
                  </a:lnTo>
                  <a:cubicBezTo>
                    <a:pt x="2739" y="7642"/>
                    <a:pt x="2835" y="7666"/>
                    <a:pt x="2918" y="7666"/>
                  </a:cubicBezTo>
                  <a:cubicBezTo>
                    <a:pt x="3013" y="7666"/>
                    <a:pt x="3096" y="7642"/>
                    <a:pt x="3168" y="7595"/>
                  </a:cubicBezTo>
                  <a:lnTo>
                    <a:pt x="6287" y="5821"/>
                  </a:lnTo>
                  <a:lnTo>
                    <a:pt x="7204" y="6356"/>
                  </a:lnTo>
                  <a:cubicBezTo>
                    <a:pt x="7323" y="6440"/>
                    <a:pt x="7323" y="6618"/>
                    <a:pt x="7204" y="6678"/>
                  </a:cubicBezTo>
                  <a:lnTo>
                    <a:pt x="6430" y="7118"/>
                  </a:lnTo>
                  <a:cubicBezTo>
                    <a:pt x="6287" y="7214"/>
                    <a:pt x="6347" y="7428"/>
                    <a:pt x="6502" y="7428"/>
                  </a:cubicBezTo>
                  <a:cubicBezTo>
                    <a:pt x="6585" y="7428"/>
                    <a:pt x="6549" y="7416"/>
                    <a:pt x="7359" y="6975"/>
                  </a:cubicBezTo>
                  <a:cubicBezTo>
                    <a:pt x="7716" y="6761"/>
                    <a:pt x="7716" y="6273"/>
                    <a:pt x="7383" y="6082"/>
                  </a:cubicBezTo>
                  <a:lnTo>
                    <a:pt x="6621" y="5642"/>
                  </a:lnTo>
                  <a:lnTo>
                    <a:pt x="7371" y="5213"/>
                  </a:lnTo>
                  <a:cubicBezTo>
                    <a:pt x="7538" y="5130"/>
                    <a:pt x="7621" y="4963"/>
                    <a:pt x="7621" y="4773"/>
                  </a:cubicBezTo>
                  <a:cubicBezTo>
                    <a:pt x="7621" y="4594"/>
                    <a:pt x="7538" y="4427"/>
                    <a:pt x="7371" y="4320"/>
                  </a:cubicBezTo>
                  <a:lnTo>
                    <a:pt x="6609" y="3892"/>
                  </a:lnTo>
                  <a:lnTo>
                    <a:pt x="7359" y="3463"/>
                  </a:lnTo>
                  <a:cubicBezTo>
                    <a:pt x="7514" y="3368"/>
                    <a:pt x="7609" y="3201"/>
                    <a:pt x="7609" y="3011"/>
                  </a:cubicBezTo>
                  <a:cubicBezTo>
                    <a:pt x="7609" y="2832"/>
                    <a:pt x="7514" y="2665"/>
                    <a:pt x="7359" y="2570"/>
                  </a:cubicBezTo>
                  <a:lnTo>
                    <a:pt x="6668" y="2165"/>
                  </a:lnTo>
                  <a:cubicBezTo>
                    <a:pt x="6668" y="427"/>
                    <a:pt x="6680" y="510"/>
                    <a:pt x="6621" y="451"/>
                  </a:cubicBezTo>
                  <a:cubicBezTo>
                    <a:pt x="6597" y="403"/>
                    <a:pt x="6609" y="439"/>
                    <a:pt x="5894" y="22"/>
                  </a:cubicBezTo>
                  <a:cubicBezTo>
                    <a:pt x="5872" y="7"/>
                    <a:pt x="5846" y="0"/>
                    <a:pt x="58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424;p71"/>
            <p:cNvSpPr/>
            <p:nvPr/>
          </p:nvSpPr>
          <p:spPr>
            <a:xfrm>
              <a:off x="986100" y="3642074"/>
              <a:ext cx="129923" cy="63292"/>
            </a:xfrm>
            <a:custGeom>
              <a:avLst/>
              <a:gdLst/>
              <a:ahLst/>
              <a:cxnLst/>
              <a:rect l="l" t="t" r="r" b="b"/>
              <a:pathLst>
                <a:path w="4085" h="1990" extrusionOk="0">
                  <a:moveTo>
                    <a:pt x="3892" y="0"/>
                  </a:moveTo>
                  <a:cubicBezTo>
                    <a:pt x="3864" y="0"/>
                    <a:pt x="3835" y="8"/>
                    <a:pt x="3811" y="25"/>
                  </a:cubicBezTo>
                  <a:lnTo>
                    <a:pt x="965" y="1644"/>
                  </a:lnTo>
                  <a:cubicBezTo>
                    <a:pt x="935" y="1656"/>
                    <a:pt x="906" y="1662"/>
                    <a:pt x="876" y="1662"/>
                  </a:cubicBezTo>
                  <a:cubicBezTo>
                    <a:pt x="846" y="1662"/>
                    <a:pt x="816" y="1656"/>
                    <a:pt x="786" y="1644"/>
                  </a:cubicBezTo>
                  <a:lnTo>
                    <a:pt x="263" y="1346"/>
                  </a:lnTo>
                  <a:cubicBezTo>
                    <a:pt x="240" y="1331"/>
                    <a:pt x="214" y="1325"/>
                    <a:pt x="188" y="1325"/>
                  </a:cubicBezTo>
                  <a:cubicBezTo>
                    <a:pt x="130" y="1325"/>
                    <a:pt x="69" y="1357"/>
                    <a:pt x="36" y="1406"/>
                  </a:cubicBezTo>
                  <a:cubicBezTo>
                    <a:pt x="1" y="1477"/>
                    <a:pt x="24" y="1584"/>
                    <a:pt x="96" y="1632"/>
                  </a:cubicBezTo>
                  <a:cubicBezTo>
                    <a:pt x="572" y="1882"/>
                    <a:pt x="655" y="1989"/>
                    <a:pt x="870" y="1989"/>
                  </a:cubicBezTo>
                  <a:cubicBezTo>
                    <a:pt x="1108" y="1989"/>
                    <a:pt x="965" y="1989"/>
                    <a:pt x="3965" y="287"/>
                  </a:cubicBezTo>
                  <a:cubicBezTo>
                    <a:pt x="4061" y="263"/>
                    <a:pt x="4084" y="156"/>
                    <a:pt x="4025" y="84"/>
                  </a:cubicBezTo>
                  <a:cubicBezTo>
                    <a:pt x="4001" y="29"/>
                    <a:pt x="3947" y="0"/>
                    <a:pt x="389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425;p71"/>
            <p:cNvSpPr/>
            <p:nvPr/>
          </p:nvSpPr>
          <p:spPr>
            <a:xfrm>
              <a:off x="862283" y="3599678"/>
              <a:ext cx="118696" cy="84156"/>
            </a:xfrm>
            <a:custGeom>
              <a:avLst/>
              <a:gdLst/>
              <a:ahLst/>
              <a:cxnLst/>
              <a:rect l="l" t="t" r="r" b="b"/>
              <a:pathLst>
                <a:path w="3732" h="2646" extrusionOk="0">
                  <a:moveTo>
                    <a:pt x="366" y="1"/>
                  </a:moveTo>
                  <a:cubicBezTo>
                    <a:pt x="332" y="1"/>
                    <a:pt x="299" y="9"/>
                    <a:pt x="274" y="24"/>
                  </a:cubicBezTo>
                  <a:cubicBezTo>
                    <a:pt x="0" y="250"/>
                    <a:pt x="36" y="679"/>
                    <a:pt x="346" y="858"/>
                  </a:cubicBezTo>
                  <a:cubicBezTo>
                    <a:pt x="3352" y="2574"/>
                    <a:pt x="3447" y="2644"/>
                    <a:pt x="3517" y="2644"/>
                  </a:cubicBezTo>
                  <a:cubicBezTo>
                    <a:pt x="3523" y="2644"/>
                    <a:pt x="3529" y="2644"/>
                    <a:pt x="3536" y="2644"/>
                  </a:cubicBezTo>
                  <a:cubicBezTo>
                    <a:pt x="3544" y="2645"/>
                    <a:pt x="3550" y="2645"/>
                    <a:pt x="3557" y="2645"/>
                  </a:cubicBezTo>
                  <a:cubicBezTo>
                    <a:pt x="3685" y="2645"/>
                    <a:pt x="3732" y="2436"/>
                    <a:pt x="3596" y="2346"/>
                  </a:cubicBezTo>
                  <a:lnTo>
                    <a:pt x="500" y="584"/>
                  </a:lnTo>
                  <a:cubicBezTo>
                    <a:pt x="381" y="524"/>
                    <a:pt x="381" y="358"/>
                    <a:pt x="465" y="286"/>
                  </a:cubicBezTo>
                  <a:cubicBezTo>
                    <a:pt x="536" y="227"/>
                    <a:pt x="536" y="119"/>
                    <a:pt x="500" y="60"/>
                  </a:cubicBezTo>
                  <a:cubicBezTo>
                    <a:pt x="465" y="18"/>
                    <a:pt x="414" y="1"/>
                    <a:pt x="36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4833307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 od pola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396614" y="2544585"/>
            <a:ext cx="3484011" cy="73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" sz="1400" dirty="0" smtClean="0"/>
              <a:t>Da li je razlika</a:t>
            </a:r>
            <a:r>
              <a:rPr lang="sr-Latn-RS" sz="1400" dirty="0" smtClean="0"/>
              <a:t> u kvalitetu sna</a:t>
            </a:r>
            <a:r>
              <a:rPr lang="en" sz="1400" dirty="0" smtClean="0"/>
              <a:t> statisti</a:t>
            </a:r>
            <a:r>
              <a:rPr lang="sr-Latn-RS" sz="1400" dirty="0" smtClean="0"/>
              <a:t>čki značajna?</a:t>
            </a:r>
            <a:endParaRPr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905925"/>
            <a:ext cx="5618556" cy="12462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93" y="1294565"/>
            <a:ext cx="4957467" cy="3718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29258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4833307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ANOVA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1524626" y="3452970"/>
            <a:ext cx="7369180" cy="12298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sr-Latn-RS" sz="1400" b="1" dirty="0" smtClean="0"/>
              <a:t>Output</a:t>
            </a:r>
            <a:r>
              <a:rPr lang="en-US" sz="1400" dirty="0" smtClean="0"/>
              <a:t>:     </a:t>
            </a:r>
          </a:p>
          <a:p>
            <a:pPr marL="0" lvl="0" indent="0">
              <a:buNone/>
            </a:pPr>
            <a:r>
              <a:rPr lang="it-IT" sz="1400" dirty="0" smtClean="0"/>
              <a:t>Anova</a:t>
            </a:r>
            <a:r>
              <a:rPr lang="it-IT" sz="1400" dirty="0"/>
              <a:t>:  34.510311389862665</a:t>
            </a:r>
          </a:p>
          <a:p>
            <a:pPr marL="0" lvl="0" indent="0">
              <a:buNone/>
            </a:pPr>
            <a:r>
              <a:rPr lang="it-IT" sz="1400" u="sng" dirty="0" smtClean="0"/>
              <a:t>p </a:t>
            </a:r>
            <a:r>
              <a:rPr lang="it-IT" sz="1400" u="sng" dirty="0"/>
              <a:t>vrednost:  </a:t>
            </a:r>
            <a:r>
              <a:rPr lang="it-IT" sz="1400" u="sng" dirty="0" smtClean="0"/>
              <a:t>9.416446532689026e-09</a:t>
            </a:r>
            <a:endParaRPr lang="sr-Latn-RS" sz="1400" u="sng" dirty="0" smtClean="0"/>
          </a:p>
          <a:p>
            <a:pPr marL="0" lvl="0" indent="0">
              <a:buNone/>
            </a:pPr>
            <a:r>
              <a:rPr lang="it-IT" sz="1400" dirty="0" smtClean="0"/>
              <a:t>	</a:t>
            </a:r>
            <a:endParaRPr lang="sr-Latn-RS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it-IT" sz="1400" dirty="0" smtClean="0"/>
              <a:t>Razlika je statisti</a:t>
            </a:r>
            <a:r>
              <a:rPr lang="sr-Latn-RS" sz="1400" dirty="0" smtClean="0"/>
              <a:t>čki značajna</a:t>
            </a:r>
            <a:r>
              <a:rPr lang="it-IT" sz="1400" dirty="0" smtClean="0"/>
              <a:t>	</a:t>
            </a:r>
            <a:endParaRPr sz="1400" u="sng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888927"/>
            <a:ext cx="5968993" cy="2011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299421" y="559216"/>
            <a:ext cx="864548" cy="552148"/>
          </a:xfrm>
          <a:prstGeom prst="rect">
            <a:avLst/>
          </a:prstGeom>
        </p:spPr>
      </p:pic>
      <p:sp>
        <p:nvSpPr>
          <p:cNvPr id="14" name="Google Shape;171;p36"/>
          <p:cNvSpPr txBox="1">
            <a:spLocks/>
          </p:cNvSpPr>
          <p:nvPr/>
        </p:nvSpPr>
        <p:spPr>
          <a:xfrm>
            <a:off x="7000487" y="90274"/>
            <a:ext cx="1893319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Filtriranje podataka</a:t>
            </a:r>
            <a:endParaRPr lang="pl-PL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11" y="2900822"/>
            <a:ext cx="864548" cy="5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378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7810684" cy="78447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Korelacija između godina i kvaliteta sna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</a:rPr>
              <a:t/>
            </a:r>
            <a:br>
              <a:rPr lang="en-US" sz="2400" dirty="0">
                <a:latin typeface="Inter" panose="020B0604020202020204" charset="0"/>
                <a:ea typeface="Inter" panose="020B0604020202020204" charset="0"/>
              </a:rPr>
            </a:br>
            <a:r>
              <a:rPr lang="en-US" sz="1400" dirty="0" err="1" smtClean="0">
                <a:latin typeface="Inter" panose="020B0604020202020204" charset="0"/>
                <a:ea typeface="Inter" panose="020B0604020202020204" charset="0"/>
              </a:rPr>
              <a:t>dve</a:t>
            </a:r>
            <a:r>
              <a:rPr lang="en-US" sz="1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400" dirty="0" err="1" smtClean="0">
                <a:latin typeface="Inter" panose="020B0604020202020204" charset="0"/>
                <a:ea typeface="Inter" panose="020B0604020202020204" charset="0"/>
              </a:rPr>
              <a:t>kontinuirane</a:t>
            </a:r>
            <a:r>
              <a:rPr lang="en-US" sz="1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1400" dirty="0" err="1" smtClean="0">
                <a:latin typeface="Inter" panose="020B0604020202020204" charset="0"/>
                <a:ea typeface="Inter" panose="020B0604020202020204" charset="0"/>
              </a:rPr>
              <a:t>varijable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1106211"/>
            <a:ext cx="5322222" cy="177008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704483" y="1198998"/>
            <a:ext cx="577664" cy="368928"/>
          </a:xfrm>
          <a:prstGeom prst="rect">
            <a:avLst/>
          </a:prstGeom>
        </p:spPr>
      </p:pic>
      <p:sp>
        <p:nvSpPr>
          <p:cNvPr id="15" name="Google Shape;171;p36"/>
          <p:cNvSpPr txBox="1">
            <a:spLocks/>
          </p:cNvSpPr>
          <p:nvPr/>
        </p:nvSpPr>
        <p:spPr>
          <a:xfrm>
            <a:off x="6187995" y="738861"/>
            <a:ext cx="1893319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Best fit line</a:t>
            </a:r>
            <a:endParaRPr lang="pl-PL" sz="1400" dirty="0"/>
          </a:p>
        </p:txBody>
      </p:sp>
      <p:sp>
        <p:nvSpPr>
          <p:cNvPr id="16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1492108" y="3323121"/>
            <a:ext cx="7369180" cy="12298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sr-Latn-RS" sz="1400" b="1" dirty="0" smtClean="0"/>
              <a:t>Output</a:t>
            </a:r>
            <a:r>
              <a:rPr lang="en-US" sz="1400" dirty="0" smtClean="0"/>
              <a:t>:     </a:t>
            </a:r>
          </a:p>
          <a:p>
            <a:pPr marL="0" lvl="0" indent="0">
              <a:buNone/>
            </a:pPr>
            <a:r>
              <a:rPr lang="nn-NO" sz="1400" dirty="0"/>
              <a:t>Korelacija godina i kvaliteta sna:  </a:t>
            </a:r>
            <a:r>
              <a:rPr lang="nn-NO" sz="1400" dirty="0" smtClean="0"/>
              <a:t>0.4737338761619902</a:t>
            </a:r>
            <a:endParaRPr lang="sr-Latn-RS" sz="1400" dirty="0" smtClean="0"/>
          </a:p>
          <a:p>
            <a:pPr marL="0" lvl="0" indent="0">
              <a:buNone/>
            </a:pPr>
            <a:r>
              <a:rPr lang="it-IT" sz="1400" dirty="0" smtClean="0"/>
              <a:t>	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0.4 </a:t>
            </a:r>
            <a:r>
              <a:rPr lang="en-US" sz="1400" dirty="0" smtClean="0"/>
              <a:t>≤ | r | &lt; 0.6 – </a:t>
            </a:r>
            <a:r>
              <a:rPr lang="en-US" sz="1400" dirty="0" err="1" smtClean="0"/>
              <a:t>umereno</a:t>
            </a:r>
            <a:r>
              <a:rPr lang="en-US" sz="1400" dirty="0" smtClean="0"/>
              <a:t> </a:t>
            </a:r>
            <a:r>
              <a:rPr lang="en-US" sz="1400" dirty="0" err="1" smtClean="0"/>
              <a:t>jaka</a:t>
            </a:r>
            <a:r>
              <a:rPr lang="en-US" sz="1400" dirty="0" smtClean="0"/>
              <a:t> </a:t>
            </a:r>
            <a:r>
              <a:rPr lang="en-US" sz="1400" dirty="0" err="1" smtClean="0"/>
              <a:t>korelacija</a:t>
            </a:r>
            <a:r>
              <a:rPr lang="sr-Latn-RS" sz="1400" dirty="0" smtClean="0"/>
              <a:t> (pozitivna)</a:t>
            </a:r>
            <a:endParaRPr sz="1400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295" y="2876298"/>
            <a:ext cx="864548" cy="5521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697156" y="2123816"/>
            <a:ext cx="561668" cy="358712"/>
          </a:xfrm>
          <a:prstGeom prst="rect">
            <a:avLst/>
          </a:prstGeom>
        </p:spPr>
      </p:pic>
      <p:sp>
        <p:nvSpPr>
          <p:cNvPr id="19" name="Google Shape;171;p36"/>
          <p:cNvSpPr txBox="1">
            <a:spLocks/>
          </p:cNvSpPr>
          <p:nvPr/>
        </p:nvSpPr>
        <p:spPr>
          <a:xfrm>
            <a:off x="6187995" y="1672294"/>
            <a:ext cx="2454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Rezultat će biti koeficijent korelacije (r)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3218121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5836918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 od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godina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396614" y="2544584"/>
            <a:ext cx="3484011" cy="1224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 smtClean="0"/>
              <a:t>Best </a:t>
            </a:r>
            <a:r>
              <a:rPr lang="nn-NO" sz="1400" dirty="0"/>
              <a:t>fit </a:t>
            </a:r>
            <a:r>
              <a:rPr lang="nn-NO" sz="1400" dirty="0" smtClean="0"/>
              <a:t>line: trend </a:t>
            </a:r>
            <a:r>
              <a:rPr lang="nn-NO" sz="1400" dirty="0"/>
              <a:t>povecanja kvaliteta sna u odnosu na </a:t>
            </a:r>
            <a:r>
              <a:rPr lang="nn-NO" sz="1400" dirty="0" smtClean="0"/>
              <a:t>godine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/>
              <a:t>r</a:t>
            </a:r>
            <a:r>
              <a:rPr lang="nn-NO" sz="1400" dirty="0" smtClean="0"/>
              <a:t> = </a:t>
            </a:r>
            <a:r>
              <a:rPr lang="nn-NO" sz="1400" dirty="0"/>
              <a:t>0.4737</a:t>
            </a:r>
            <a:endParaRPr lang="nn-NO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 smtClean="0"/>
              <a:t>Sa </a:t>
            </a:r>
            <a:r>
              <a:rPr lang="nn-NO" sz="1400" dirty="0"/>
              <a:t>povecanjem godina raste i kvalitet </a:t>
            </a:r>
            <a:r>
              <a:rPr lang="nn-NO" sz="1400" dirty="0" smtClean="0"/>
              <a:t>sna</a:t>
            </a: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3" y="888927"/>
            <a:ext cx="4831567" cy="140235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85" y="1192129"/>
            <a:ext cx="5011366" cy="383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6390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710323" cy="525131"/>
          </a:xfrm>
        </p:spPr>
        <p:txBody>
          <a:bodyPr/>
          <a:lstStyle/>
          <a:p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Korelacija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izme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đu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nivoa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stresa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i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kvaliteta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sna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888927"/>
            <a:ext cx="5819775" cy="1695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87" y="560332"/>
            <a:ext cx="2847079" cy="1847248"/>
          </a:xfrm>
          <a:prstGeom prst="rect">
            <a:avLst/>
          </a:prstGeom>
        </p:spPr>
      </p:pic>
      <p:sp>
        <p:nvSpPr>
          <p:cNvPr id="14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1492108" y="3018573"/>
            <a:ext cx="7369180" cy="12298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sr-Latn-RS" sz="1400" b="1" dirty="0" smtClean="0"/>
              <a:t>Output</a:t>
            </a:r>
            <a:r>
              <a:rPr lang="en-US" sz="1400" dirty="0" smtClean="0"/>
              <a:t>:     </a:t>
            </a:r>
          </a:p>
          <a:p>
            <a:pPr marL="0" lvl="0" indent="0">
              <a:buNone/>
            </a:pPr>
            <a:r>
              <a:rPr lang="nn-NO" sz="1400" dirty="0"/>
              <a:t>Korelacija nivoa stresa i kvaliteta sna:  -</a:t>
            </a:r>
            <a:r>
              <a:rPr lang="nn-NO" sz="1400" dirty="0" smtClean="0"/>
              <a:t>0.8987520310040424</a:t>
            </a:r>
            <a:endParaRPr lang="sr-Latn-RS" sz="1400" dirty="0" smtClean="0"/>
          </a:p>
          <a:p>
            <a:pPr marL="0" lvl="0" indent="0">
              <a:buNone/>
            </a:pPr>
            <a:r>
              <a:rPr lang="it-IT" sz="1400" dirty="0" smtClean="0"/>
              <a:t>	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0.8 </a:t>
            </a:r>
            <a:r>
              <a:rPr lang="en-US" sz="1400" dirty="0" smtClean="0"/>
              <a:t>≤ | r | &lt; </a:t>
            </a:r>
            <a:r>
              <a:rPr lang="sr-Latn-RS" sz="1400" dirty="0" smtClean="0"/>
              <a:t>1.0</a:t>
            </a:r>
            <a:r>
              <a:rPr lang="en-US" sz="1400" dirty="0" smtClean="0"/>
              <a:t> –</a:t>
            </a:r>
            <a:r>
              <a:rPr lang="sr-Latn-RS" sz="1400" dirty="0" smtClean="0"/>
              <a:t> veoma </a:t>
            </a:r>
            <a:r>
              <a:rPr lang="en-US" sz="1400" dirty="0" err="1" smtClean="0"/>
              <a:t>jaka</a:t>
            </a:r>
            <a:r>
              <a:rPr lang="sr-Latn-RS" sz="1400" dirty="0"/>
              <a:t> </a:t>
            </a:r>
            <a:r>
              <a:rPr lang="en-US" sz="1400" dirty="0" err="1" smtClean="0"/>
              <a:t>korelacija</a:t>
            </a:r>
            <a:r>
              <a:rPr lang="sr-Latn-RS" sz="1400" dirty="0"/>
              <a:t> </a:t>
            </a:r>
            <a:r>
              <a:rPr lang="sr-Latn-RS" sz="1400" dirty="0" smtClean="0"/>
              <a:t>(negativna)</a:t>
            </a:r>
            <a:endParaRPr sz="1400" u="sng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295" y="2571750"/>
            <a:ext cx="864548" cy="552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93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052401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 od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nivoa stresa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4067779" y="3158305"/>
            <a:ext cx="3484011" cy="1224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buNone/>
            </a:pPr>
            <a:r>
              <a:rPr lang="sr-Latn-RS" sz="1400" dirty="0" smtClean="0"/>
              <a:t>Različita zanimanja će biti prikazana različitom bojom</a:t>
            </a: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917171"/>
            <a:ext cx="8195159" cy="2159253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 flipH="1" flipV="1">
            <a:off x="5798634" y="1650381"/>
            <a:ext cx="11151" cy="18064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 flipV="1">
            <a:off x="640361" y="1269928"/>
            <a:ext cx="11150" cy="2186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7" name="Google Shape;171;p36"/>
          <p:cNvSpPr txBox="1">
            <a:spLocks/>
          </p:cNvSpPr>
          <p:nvPr/>
        </p:nvSpPr>
        <p:spPr>
          <a:xfrm>
            <a:off x="-151100" y="3041658"/>
            <a:ext cx="3484011" cy="1224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 algn="ctr">
              <a:buFont typeface="Inter"/>
              <a:buNone/>
            </a:pPr>
            <a:r>
              <a:rPr lang="sr-Latn-RS" sz="1400" dirty="0" smtClean="0"/>
              <a:t>Generiše paletu boja koja će se koristiti na grafikonu</a:t>
            </a:r>
            <a:endParaRPr lang="nn-NO" sz="1400" dirty="0"/>
          </a:p>
        </p:txBody>
      </p:sp>
    </p:spTree>
    <p:extLst>
      <p:ext uri="{BB962C8B-B14F-4D97-AF65-F5344CB8AC3E}">
        <p14:creationId xmlns:p14="http://schemas.microsoft.com/office/powerpoint/2010/main" val="8355434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052401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 od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nivoa stresa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729" y="888927"/>
            <a:ext cx="7291962" cy="4019865"/>
          </a:xfrm>
          <a:prstGeom prst="rect">
            <a:avLst/>
          </a:prstGeom>
        </p:spPr>
      </p:pic>
      <p:sp>
        <p:nvSpPr>
          <p:cNvPr id="14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1402428" y="3111190"/>
            <a:ext cx="2678449" cy="122981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sz="1400" dirty="0" smtClean="0">
                <a:solidFill>
                  <a:schemeClr val="tx1"/>
                </a:solidFill>
              </a:rPr>
              <a:t>- r =</a:t>
            </a:r>
            <a:r>
              <a:rPr lang="nn-NO" sz="1400" dirty="0">
                <a:solidFill>
                  <a:schemeClr val="tx1"/>
                </a:solidFill>
              </a:rPr>
              <a:t> </a:t>
            </a:r>
            <a:r>
              <a:rPr lang="nn-NO" sz="1400" dirty="0" smtClean="0">
                <a:solidFill>
                  <a:schemeClr val="tx1"/>
                </a:solidFill>
              </a:rPr>
              <a:t>-0.8987</a:t>
            </a:r>
          </a:p>
          <a:p>
            <a:pPr marL="0" lvl="0" indent="0">
              <a:buNone/>
            </a:pPr>
            <a:r>
              <a:rPr lang="nn-NO" sz="1400" dirty="0" smtClean="0">
                <a:solidFill>
                  <a:schemeClr val="tx1"/>
                </a:solidFill>
              </a:rPr>
              <a:t>- Sa porastom nivoa stresa smanjuje se kvalitet sna </a:t>
            </a:r>
          </a:p>
          <a:p>
            <a:pPr marL="0" lvl="0" indent="0"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2827995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364635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 od BMI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kategorije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396614" y="2544584"/>
            <a:ext cx="3484011" cy="1224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dirty="0"/>
              <a:t>Da li je razlika u kvalitetu sna statistički značajna?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22" y="888927"/>
            <a:ext cx="5322222" cy="125228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0195" y="1163885"/>
            <a:ext cx="4962293" cy="372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633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364635" cy="525131"/>
          </a:xfrm>
        </p:spPr>
        <p:txBody>
          <a:bodyPr/>
          <a:lstStyle/>
          <a:p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ANOVA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izme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đ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u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svake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BMI kategorije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25" y="835290"/>
            <a:ext cx="7135604" cy="414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63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364635" cy="525131"/>
          </a:xfrm>
        </p:spPr>
        <p:txBody>
          <a:bodyPr/>
          <a:lstStyle/>
          <a:p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ANOVA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izme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đ</a:t>
            </a:r>
            <a:r>
              <a:rPr lang="en-US" sz="2400" dirty="0" smtClean="0">
                <a:latin typeface="Inter" panose="020B0604020202020204" charset="0"/>
                <a:ea typeface="Inter" panose="020B0604020202020204" charset="0"/>
              </a:rPr>
              <a:t>u </a:t>
            </a:r>
            <a:r>
              <a:rPr lang="en-US" sz="2400" dirty="0" err="1" smtClean="0">
                <a:latin typeface="Inter" panose="020B0604020202020204" charset="0"/>
                <a:ea typeface="Inter" panose="020B0604020202020204" charset="0"/>
              </a:rPr>
              <a:t>svake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BMI kategorije - rezultat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2" y="969061"/>
            <a:ext cx="8858250" cy="1181100"/>
          </a:xfrm>
          <a:prstGeom prst="rect">
            <a:avLst/>
          </a:prstGeom>
        </p:spPr>
      </p:pic>
      <p:sp>
        <p:nvSpPr>
          <p:cNvPr id="9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651511" y="2424505"/>
            <a:ext cx="3484011" cy="1224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sr-Latn-RS" sz="1400" dirty="0" smtClean="0"/>
              <a:t>Rezultujuća tabela koja prikazuje da li postoji statistički značajna razlika između svake dve BMI kategorije</a:t>
            </a:r>
            <a:endParaRPr lang="nn-NO" sz="1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132" y="2150161"/>
            <a:ext cx="865707" cy="5486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2000" y="835290"/>
            <a:ext cx="769434" cy="14618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374886" y="835290"/>
            <a:ext cx="1393903" cy="1461861"/>
          </a:xfrm>
          <a:prstGeom prst="rect">
            <a:avLst/>
          </a:prstGeom>
          <a:noFill/>
          <a:ln>
            <a:solidFill>
              <a:srgbClr val="253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20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8146777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Dužina sna u zavisnosti od prisutnosti poremećaja sna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476413" y="3310744"/>
            <a:ext cx="3437666" cy="158464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Sleep Apnea</a:t>
            </a:r>
            <a:r>
              <a:rPr lang="en-US" sz="1400" dirty="0" smtClean="0"/>
              <a:t>: </a:t>
            </a:r>
            <a:r>
              <a:rPr lang="en-US" sz="1400" dirty="0" err="1" smtClean="0"/>
              <a:t>uglavnom</a:t>
            </a:r>
            <a:r>
              <a:rPr lang="en-US" sz="1400" dirty="0" smtClean="0"/>
              <a:t> </a:t>
            </a:r>
            <a:r>
              <a:rPr lang="en-US" sz="1400" dirty="0" err="1" smtClean="0"/>
              <a:t>nema</a:t>
            </a:r>
            <a:r>
              <a:rPr lang="en-US" sz="1400" dirty="0" smtClean="0"/>
              <a:t> </a:t>
            </a:r>
            <a:r>
              <a:rPr lang="en-US" sz="1400" dirty="0" err="1" smtClean="0"/>
              <a:t>intermedijarne</a:t>
            </a:r>
            <a:r>
              <a:rPr lang="en-US" sz="1400" dirty="0" smtClean="0"/>
              <a:t> </a:t>
            </a:r>
            <a:r>
              <a:rPr lang="en-US" sz="1400" dirty="0" err="1" smtClean="0"/>
              <a:t>vrednosti</a:t>
            </a:r>
            <a:endParaRPr lang="en-US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Veći deo </a:t>
            </a:r>
            <a:r>
              <a:rPr lang="sr-Latn-RS" sz="1400" dirty="0"/>
              <a:t>i</a:t>
            </a:r>
            <a:r>
              <a:rPr lang="en-US" sz="1400" dirty="0" err="1" smtClean="0"/>
              <a:t>spitani</a:t>
            </a:r>
            <a:r>
              <a:rPr lang="sr-Latn-RS" sz="1400" dirty="0" smtClean="0"/>
              <a:t>k</a:t>
            </a:r>
            <a:r>
              <a:rPr lang="sr-Latn-RS" sz="1400" dirty="0"/>
              <a:t>a</a:t>
            </a:r>
            <a:r>
              <a:rPr lang="en-US" sz="1400" dirty="0" smtClean="0"/>
              <a:t> </a:t>
            </a:r>
            <a:r>
              <a:rPr lang="en-US" sz="1400" dirty="0" err="1" smtClean="0"/>
              <a:t>sa</a:t>
            </a:r>
            <a:r>
              <a:rPr lang="en-US" sz="1400" dirty="0" smtClean="0"/>
              <a:t> </a:t>
            </a:r>
            <a:r>
              <a:rPr lang="en-US" sz="1400" dirty="0" err="1" smtClean="0"/>
              <a:t>insomnijom</a:t>
            </a:r>
            <a:r>
              <a:rPr lang="en-US" sz="1400" dirty="0" smtClean="0"/>
              <a:t> </a:t>
            </a:r>
            <a:r>
              <a:rPr lang="en-US" sz="1400" dirty="0" err="1" smtClean="0"/>
              <a:t>ima</a:t>
            </a:r>
            <a:r>
              <a:rPr lang="sr-Latn-RS" sz="1400" dirty="0"/>
              <a:t> </a:t>
            </a:r>
            <a:r>
              <a:rPr lang="en-US" sz="1400" dirty="0" smtClean="0"/>
              <a:t>du</a:t>
            </a:r>
            <a:r>
              <a:rPr lang="sr-Latn-RS" sz="1400" dirty="0" smtClean="0"/>
              <a:t>žinu sna oko 6.5 sati</a:t>
            </a:r>
            <a:endParaRPr lang="en-US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1400" dirty="0" smtClean="0"/>
          </a:p>
          <a:p>
            <a:pPr marL="0" lvl="0" indent="0">
              <a:buNone/>
            </a:pP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888927"/>
            <a:ext cx="8501876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967"/>
                    </a14:imgEffect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7103" y="1395035"/>
            <a:ext cx="4841186" cy="3630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91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7130460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Korelacija između kvaliteta sna i otkucaja srca 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11" y="952500"/>
            <a:ext cx="5753100" cy="16192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480243" y="1034242"/>
            <a:ext cx="577664" cy="368928"/>
          </a:xfrm>
          <a:prstGeom prst="rect">
            <a:avLst/>
          </a:prstGeom>
        </p:spPr>
      </p:pic>
      <p:sp>
        <p:nvSpPr>
          <p:cNvPr id="15" name="Google Shape;171;p36"/>
          <p:cNvSpPr txBox="1">
            <a:spLocks/>
          </p:cNvSpPr>
          <p:nvPr/>
        </p:nvSpPr>
        <p:spPr>
          <a:xfrm>
            <a:off x="6943323" y="572724"/>
            <a:ext cx="1893319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Best fit line</a:t>
            </a:r>
            <a:endParaRPr lang="pl-PL" sz="1400" dirty="0"/>
          </a:p>
        </p:txBody>
      </p:sp>
      <p:sp>
        <p:nvSpPr>
          <p:cNvPr id="16" name="Google Shape;171;p36"/>
          <p:cNvSpPr txBox="1">
            <a:spLocks/>
          </p:cNvSpPr>
          <p:nvPr/>
        </p:nvSpPr>
        <p:spPr>
          <a:xfrm>
            <a:off x="1774820" y="3018573"/>
            <a:ext cx="7369180" cy="122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Font typeface="Inter"/>
              <a:buNone/>
            </a:pPr>
            <a:r>
              <a:rPr lang="sr-Latn-RS" sz="1400" b="1" dirty="0" smtClean="0"/>
              <a:t>Output</a:t>
            </a:r>
            <a:r>
              <a:rPr lang="sr-Latn-RS" sz="1400" dirty="0" smtClean="0"/>
              <a:t>:     </a:t>
            </a:r>
          </a:p>
          <a:p>
            <a:pPr marL="0" indent="0">
              <a:buNone/>
            </a:pPr>
            <a:r>
              <a:rPr lang="sr-Latn-RS" sz="1400" dirty="0" smtClean="0"/>
              <a:t>Korelacija kvaliteta sna i otkucaja srca</a:t>
            </a:r>
            <a:r>
              <a:rPr lang="sr-Latn-RS" sz="1400" dirty="0"/>
              <a:t>:   -</a:t>
            </a:r>
            <a:r>
              <a:rPr lang="sr-Latn-RS" sz="1400" dirty="0" smtClean="0"/>
              <a:t>0.6598647331480089</a:t>
            </a:r>
          </a:p>
          <a:p>
            <a:pPr marL="0" indent="0">
              <a:buNone/>
            </a:pPr>
            <a:r>
              <a:rPr lang="sr-Latn-RS" sz="1400" dirty="0" smtClean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0.6 ≤ | r | &lt; 0.8 – jaka korelacija (negativna)</a:t>
            </a:r>
            <a:endParaRPr lang="sr-Latn-RS" sz="1400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4007" y="2571750"/>
            <a:ext cx="864548" cy="5521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483133" y="1959060"/>
            <a:ext cx="561668" cy="358712"/>
          </a:xfrm>
          <a:prstGeom prst="rect">
            <a:avLst/>
          </a:prstGeom>
        </p:spPr>
      </p:pic>
      <p:sp>
        <p:nvSpPr>
          <p:cNvPr id="19" name="Google Shape;171;p36"/>
          <p:cNvSpPr txBox="1">
            <a:spLocks/>
          </p:cNvSpPr>
          <p:nvPr/>
        </p:nvSpPr>
        <p:spPr>
          <a:xfrm>
            <a:off x="6862460" y="1507538"/>
            <a:ext cx="2454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Rezultat će biti koeficijent korelacije (r)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1954611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1" y="310159"/>
            <a:ext cx="6862830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Kvalitet sna u zavisnosti od</a:t>
            </a:r>
            <a:r>
              <a:rPr lang="sr-Latn-RS" sz="2400" dirty="0">
                <a:latin typeface="Inter" panose="020B0604020202020204" charset="0"/>
                <a:ea typeface="Inter" panose="020B0604020202020204" charset="0"/>
              </a:rPr>
              <a:t> </a:t>
            </a:r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otkucaja srca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396614" y="2544584"/>
            <a:ext cx="3484011" cy="122452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 smtClean="0"/>
              <a:t>Best </a:t>
            </a:r>
            <a:r>
              <a:rPr lang="nn-NO" sz="1400" dirty="0"/>
              <a:t>fit </a:t>
            </a:r>
            <a:r>
              <a:rPr lang="nn-NO" sz="1400" dirty="0" smtClean="0"/>
              <a:t>line: trend</a:t>
            </a:r>
            <a:r>
              <a:rPr lang="sr-Latn-RS" sz="1400" dirty="0" smtClean="0"/>
              <a:t> smanjenja </a:t>
            </a:r>
            <a:r>
              <a:rPr lang="nn-NO" sz="1400" dirty="0" smtClean="0"/>
              <a:t>kvaliteta </a:t>
            </a:r>
            <a:r>
              <a:rPr lang="nn-NO" sz="1400" dirty="0"/>
              <a:t>sna u odnosu na </a:t>
            </a:r>
            <a:r>
              <a:rPr lang="sr-Latn-RS" sz="1400" dirty="0" smtClean="0"/>
              <a:t>otkucaje srca</a:t>
            </a:r>
            <a:endParaRPr lang="nn-NO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/>
              <a:t>r</a:t>
            </a:r>
            <a:r>
              <a:rPr lang="nn-NO" sz="1400" dirty="0" smtClean="0"/>
              <a:t> = </a:t>
            </a:r>
            <a:r>
              <a:rPr lang="sr-Latn-RS" sz="1400" dirty="0"/>
              <a:t>-0.6598</a:t>
            </a:r>
            <a:endParaRPr lang="nn-NO" sz="1400" dirty="0" smtClean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nn-NO" sz="1400" dirty="0" smtClean="0"/>
              <a:t>Sa povecanjem</a:t>
            </a:r>
            <a:r>
              <a:rPr lang="sr-Latn-RS" sz="1400" dirty="0" smtClean="0"/>
              <a:t> otkucaja srca smanjuje se</a:t>
            </a:r>
            <a:r>
              <a:rPr lang="sr-Latn-RS" sz="1400" dirty="0"/>
              <a:t> </a:t>
            </a:r>
            <a:r>
              <a:rPr lang="nn-NO" sz="1400" dirty="0" smtClean="0"/>
              <a:t>kvalitet sna</a:t>
            </a: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12" y="917171"/>
            <a:ext cx="5705475" cy="1457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387" y="2151610"/>
            <a:ext cx="4006352" cy="2887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541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911045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Korelacija između kvaliteta sna i fizičke aktivnosti 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438960" y="1012583"/>
            <a:ext cx="577664" cy="368928"/>
          </a:xfrm>
          <a:prstGeom prst="rect">
            <a:avLst/>
          </a:prstGeom>
        </p:spPr>
      </p:pic>
      <p:sp>
        <p:nvSpPr>
          <p:cNvPr id="15" name="Google Shape;171;p36"/>
          <p:cNvSpPr txBox="1">
            <a:spLocks/>
          </p:cNvSpPr>
          <p:nvPr/>
        </p:nvSpPr>
        <p:spPr>
          <a:xfrm>
            <a:off x="6899605" y="550542"/>
            <a:ext cx="1893319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Best fit line</a:t>
            </a:r>
            <a:endParaRPr lang="pl-PL" sz="1400" dirty="0"/>
          </a:p>
        </p:txBody>
      </p:sp>
      <p:sp>
        <p:nvSpPr>
          <p:cNvPr id="16" name="Google Shape;171;p36"/>
          <p:cNvSpPr txBox="1">
            <a:spLocks/>
          </p:cNvSpPr>
          <p:nvPr/>
        </p:nvSpPr>
        <p:spPr>
          <a:xfrm>
            <a:off x="1774820" y="3018573"/>
            <a:ext cx="7369180" cy="122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Font typeface="Inter"/>
              <a:buNone/>
            </a:pPr>
            <a:r>
              <a:rPr lang="sr-Latn-RS" sz="1400" b="1" dirty="0" smtClean="0"/>
              <a:t>Output</a:t>
            </a:r>
            <a:r>
              <a:rPr lang="sr-Latn-RS" sz="1400" dirty="0" smtClean="0"/>
              <a:t>:     </a:t>
            </a:r>
          </a:p>
          <a:p>
            <a:pPr marL="0" indent="0">
              <a:buNone/>
            </a:pPr>
            <a:r>
              <a:rPr lang="sr-Latn-RS" sz="1400" dirty="0" smtClean="0"/>
              <a:t>Korelacija fizičke aktivnosti i kvaliteta sna</a:t>
            </a:r>
            <a:r>
              <a:rPr lang="sr-Latn-RS" sz="1400" dirty="0"/>
              <a:t>:   </a:t>
            </a:r>
            <a:r>
              <a:rPr lang="sr-Latn-RS" sz="1400" dirty="0" smtClean="0"/>
              <a:t>0.1928964549397526</a:t>
            </a:r>
          </a:p>
          <a:p>
            <a:pPr marL="0" indent="0">
              <a:buNone/>
            </a:pPr>
            <a:r>
              <a:rPr lang="sr-Latn-RS" sz="1400" dirty="0" smtClean="0"/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0.0 </a:t>
            </a:r>
            <a:r>
              <a:rPr lang="sr-Latn-RS" sz="1400" dirty="0"/>
              <a:t>&lt;</a:t>
            </a:r>
            <a:r>
              <a:rPr lang="sr-Latn-RS" sz="1400" dirty="0" smtClean="0"/>
              <a:t> | r | &lt; 0.2 – veoma slaba korelacija (pozitivna)</a:t>
            </a:r>
            <a:endParaRPr lang="sr-Latn-RS" sz="1400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07" y="2571750"/>
            <a:ext cx="864548" cy="5521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441850" y="1922597"/>
            <a:ext cx="561668" cy="358712"/>
          </a:xfrm>
          <a:prstGeom prst="rect">
            <a:avLst/>
          </a:prstGeom>
        </p:spPr>
      </p:pic>
      <p:sp>
        <p:nvSpPr>
          <p:cNvPr id="19" name="Google Shape;171;p36"/>
          <p:cNvSpPr txBox="1">
            <a:spLocks/>
          </p:cNvSpPr>
          <p:nvPr/>
        </p:nvSpPr>
        <p:spPr>
          <a:xfrm>
            <a:off x="6821177" y="1485879"/>
            <a:ext cx="2454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Rezultat će biti koeficijent korelacije (r)</a:t>
            </a:r>
            <a:endParaRPr lang="pl-PL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2" y="941455"/>
            <a:ext cx="6068272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949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1510" y="310159"/>
            <a:ext cx="7911045" cy="525131"/>
          </a:xfrm>
        </p:spPr>
        <p:txBody>
          <a:bodyPr/>
          <a:lstStyle/>
          <a:p>
            <a:r>
              <a:rPr lang="sr-Latn-RS" sz="2400" dirty="0" smtClean="0">
                <a:latin typeface="Inter" panose="020B0604020202020204" charset="0"/>
                <a:ea typeface="Inter" panose="020B0604020202020204" charset="0"/>
              </a:rPr>
              <a:t>Korelacija između dužine sna i fizičke aktivnosti </a:t>
            </a:r>
            <a:endParaRPr lang="en-US" sz="24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438960" y="1012583"/>
            <a:ext cx="577664" cy="368928"/>
          </a:xfrm>
          <a:prstGeom prst="rect">
            <a:avLst/>
          </a:prstGeom>
        </p:spPr>
      </p:pic>
      <p:sp>
        <p:nvSpPr>
          <p:cNvPr id="15" name="Google Shape;171;p36"/>
          <p:cNvSpPr txBox="1">
            <a:spLocks/>
          </p:cNvSpPr>
          <p:nvPr/>
        </p:nvSpPr>
        <p:spPr>
          <a:xfrm>
            <a:off x="6899605" y="550542"/>
            <a:ext cx="1893319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Best fit line</a:t>
            </a:r>
            <a:endParaRPr lang="pl-PL" sz="1400" dirty="0"/>
          </a:p>
        </p:txBody>
      </p:sp>
      <p:sp>
        <p:nvSpPr>
          <p:cNvPr id="16" name="Google Shape;171;p36"/>
          <p:cNvSpPr txBox="1">
            <a:spLocks/>
          </p:cNvSpPr>
          <p:nvPr/>
        </p:nvSpPr>
        <p:spPr>
          <a:xfrm>
            <a:off x="1774820" y="2988172"/>
            <a:ext cx="7369180" cy="1229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Font typeface="Inter"/>
              <a:buNone/>
            </a:pPr>
            <a:r>
              <a:rPr lang="sr-Latn-RS" sz="1400" b="1" dirty="0" smtClean="0"/>
              <a:t>Output</a:t>
            </a:r>
            <a:r>
              <a:rPr lang="sr-Latn-RS" sz="1400" dirty="0" smtClean="0"/>
              <a:t>:     </a:t>
            </a:r>
          </a:p>
          <a:p>
            <a:pPr marL="0" indent="0">
              <a:buNone/>
            </a:pPr>
            <a:r>
              <a:rPr lang="sr-Latn-RS" sz="1400" dirty="0" smtClean="0"/>
              <a:t>Korelacija fizičke aktivnosti i duzine sna</a:t>
            </a:r>
            <a:r>
              <a:rPr lang="sr-Latn-RS" sz="1400" dirty="0"/>
              <a:t>:    0.2123603147257588</a:t>
            </a:r>
            <a:endParaRPr lang="sr-Latn-RS" sz="1400" dirty="0" smtClean="0"/>
          </a:p>
          <a:p>
            <a:pPr marL="0" indent="0">
              <a:buNone/>
            </a:pPr>
            <a:endParaRPr lang="sr-Latn-R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r-Latn-RS" sz="1400" dirty="0" smtClean="0"/>
              <a:t>0.2  </a:t>
            </a:r>
            <a:r>
              <a:rPr lang="en-US" sz="1400" dirty="0" smtClean="0"/>
              <a:t>≤</a:t>
            </a:r>
            <a:r>
              <a:rPr lang="sr-Latn-RS" dirty="0" smtClean="0"/>
              <a:t> </a:t>
            </a:r>
            <a:r>
              <a:rPr lang="sr-Latn-RS" sz="1400" dirty="0" smtClean="0"/>
              <a:t>| r | &lt; 0.4 - slaba korelacija (pozitivna)</a:t>
            </a:r>
            <a:endParaRPr lang="sr-Latn-RS" sz="1400" u="sng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007" y="2541349"/>
            <a:ext cx="864548" cy="5521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6441850" y="1922597"/>
            <a:ext cx="561668" cy="358712"/>
          </a:xfrm>
          <a:prstGeom prst="rect">
            <a:avLst/>
          </a:prstGeom>
        </p:spPr>
      </p:pic>
      <p:sp>
        <p:nvSpPr>
          <p:cNvPr id="19" name="Google Shape;171;p36"/>
          <p:cNvSpPr txBox="1">
            <a:spLocks/>
          </p:cNvSpPr>
          <p:nvPr/>
        </p:nvSpPr>
        <p:spPr>
          <a:xfrm>
            <a:off x="6821177" y="1485879"/>
            <a:ext cx="2454200" cy="7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indent="0">
              <a:buNone/>
            </a:pPr>
            <a:r>
              <a:rPr lang="pl-PL" sz="1400" dirty="0" smtClean="0"/>
              <a:t>Rezultat će biti koeficijent korelacije (r)</a:t>
            </a:r>
            <a:endParaRPr lang="pl-PL" sz="14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635" y="921873"/>
            <a:ext cx="5858693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5797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76476" y="185267"/>
            <a:ext cx="3439407" cy="762587"/>
          </a:xfrm>
        </p:spPr>
        <p:txBody>
          <a:bodyPr/>
          <a:lstStyle/>
          <a:p>
            <a:r>
              <a:rPr lang="sr-Latn-RS" sz="1800" dirty="0" smtClean="0">
                <a:latin typeface="Inter" panose="020B0604020202020204" charset="0"/>
                <a:ea typeface="Inter" panose="020B0604020202020204" charset="0"/>
              </a:rPr>
              <a:t>Kvalitet sna u zavisnosti od fizičke aktivnosti</a:t>
            </a:r>
            <a:endParaRPr lang="en-US" sz="18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0" name="Google Shape;171;p36"/>
          <p:cNvSpPr txBox="1">
            <a:spLocks noGrp="1"/>
          </p:cNvSpPr>
          <p:nvPr>
            <p:ph type="subTitle" idx="1"/>
          </p:nvPr>
        </p:nvSpPr>
        <p:spPr>
          <a:xfrm>
            <a:off x="476412" y="4256063"/>
            <a:ext cx="1931629" cy="69507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 =</a:t>
            </a:r>
            <a:r>
              <a:rPr lang="en-US" sz="1400" dirty="0"/>
              <a:t> </a:t>
            </a:r>
            <a:r>
              <a:rPr lang="sr-Latn-RS" sz="1400" dirty="0" smtClean="0"/>
              <a:t>0.1928</a:t>
            </a:r>
            <a:endParaRPr lang="nn-NO" sz="1400" dirty="0"/>
          </a:p>
        </p:txBody>
      </p:sp>
      <p:grpSp>
        <p:nvGrpSpPr>
          <p:cNvPr id="11" name="Google Shape;9797;p69"/>
          <p:cNvGrpSpPr/>
          <p:nvPr/>
        </p:nvGrpSpPr>
        <p:grpSpPr>
          <a:xfrm>
            <a:off x="476412" y="354917"/>
            <a:ext cx="355099" cy="355481"/>
            <a:chOff x="3539102" y="2427549"/>
            <a:chExt cx="355099" cy="355481"/>
          </a:xfrm>
        </p:grpSpPr>
        <p:sp>
          <p:nvSpPr>
            <p:cNvPr id="12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Title 4"/>
          <p:cNvSpPr txBox="1">
            <a:spLocks/>
          </p:cNvSpPr>
          <p:nvPr/>
        </p:nvSpPr>
        <p:spPr>
          <a:xfrm>
            <a:off x="5178859" y="185267"/>
            <a:ext cx="3439407" cy="76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Work Sans SemiBold"/>
              <a:buNone/>
              <a:defRPr sz="3000" b="0" i="0" u="none" strike="noStrike" cap="none">
                <a:solidFill>
                  <a:schemeClr val="lt1"/>
                </a:solidFill>
                <a:latin typeface="Work Sans SemiBold"/>
                <a:ea typeface="Work Sans SemiBold"/>
                <a:cs typeface="Work Sans SemiBold"/>
                <a:sym typeface="Work Sans SemiBold"/>
              </a:defRPr>
            </a:lvl9pPr>
          </a:lstStyle>
          <a:p>
            <a:r>
              <a:rPr lang="sr-Latn-RS" sz="1800" dirty="0" smtClean="0">
                <a:latin typeface="Inter" panose="020B0604020202020204" charset="0"/>
                <a:ea typeface="Inter" panose="020B0604020202020204" charset="0"/>
              </a:rPr>
              <a:t>Dužina sna u zavisnosti od fizičke aktivnosti</a:t>
            </a:r>
            <a:endParaRPr lang="en-US" sz="1800" dirty="0">
              <a:latin typeface="Inter" panose="020B0604020202020204" charset="0"/>
              <a:ea typeface="Inter" panose="020B0604020202020204" charset="0"/>
            </a:endParaRPr>
          </a:p>
        </p:txBody>
      </p:sp>
      <p:grpSp>
        <p:nvGrpSpPr>
          <p:cNvPr id="14" name="Google Shape;9797;p69"/>
          <p:cNvGrpSpPr/>
          <p:nvPr/>
        </p:nvGrpSpPr>
        <p:grpSpPr>
          <a:xfrm>
            <a:off x="4717837" y="354917"/>
            <a:ext cx="355099" cy="355481"/>
            <a:chOff x="3539102" y="2427549"/>
            <a:chExt cx="355099" cy="355481"/>
          </a:xfrm>
        </p:grpSpPr>
        <p:sp>
          <p:nvSpPr>
            <p:cNvPr id="15" name="Google Shape;9798;p69"/>
            <p:cNvSpPr/>
            <p:nvPr/>
          </p:nvSpPr>
          <p:spPr>
            <a:xfrm>
              <a:off x="3539102" y="2561320"/>
              <a:ext cx="355099" cy="221710"/>
            </a:xfrm>
            <a:custGeom>
              <a:avLst/>
              <a:gdLst/>
              <a:ahLst/>
              <a:cxnLst/>
              <a:rect l="l" t="t" r="r" b="b"/>
              <a:pathLst>
                <a:path w="11157" h="6966" extrusionOk="0">
                  <a:moveTo>
                    <a:pt x="2953" y="3131"/>
                  </a:moveTo>
                  <a:lnTo>
                    <a:pt x="2953" y="6644"/>
                  </a:lnTo>
                  <a:lnTo>
                    <a:pt x="1537" y="6644"/>
                  </a:lnTo>
                  <a:lnTo>
                    <a:pt x="1537" y="3131"/>
                  </a:lnTo>
                  <a:close/>
                  <a:moveTo>
                    <a:pt x="6263" y="2250"/>
                  </a:moveTo>
                  <a:lnTo>
                    <a:pt x="6263" y="6644"/>
                  </a:lnTo>
                  <a:lnTo>
                    <a:pt x="4858" y="6644"/>
                  </a:lnTo>
                  <a:lnTo>
                    <a:pt x="4858" y="2250"/>
                  </a:lnTo>
                  <a:close/>
                  <a:moveTo>
                    <a:pt x="9585" y="333"/>
                  </a:moveTo>
                  <a:lnTo>
                    <a:pt x="9585" y="6644"/>
                  </a:lnTo>
                  <a:lnTo>
                    <a:pt x="8168" y="6644"/>
                  </a:lnTo>
                  <a:lnTo>
                    <a:pt x="8168" y="333"/>
                  </a:lnTo>
                  <a:close/>
                  <a:moveTo>
                    <a:pt x="8025" y="0"/>
                  </a:moveTo>
                  <a:cubicBezTo>
                    <a:pt x="7930" y="0"/>
                    <a:pt x="7859" y="83"/>
                    <a:pt x="7859" y="167"/>
                  </a:cubicBezTo>
                  <a:lnTo>
                    <a:pt x="7859" y="6644"/>
                  </a:lnTo>
                  <a:lnTo>
                    <a:pt x="6609" y="6644"/>
                  </a:lnTo>
                  <a:lnTo>
                    <a:pt x="6609" y="2084"/>
                  </a:lnTo>
                  <a:cubicBezTo>
                    <a:pt x="6609" y="2000"/>
                    <a:pt x="6537" y="1917"/>
                    <a:pt x="6442" y="1917"/>
                  </a:cubicBezTo>
                  <a:lnTo>
                    <a:pt x="4704" y="1917"/>
                  </a:lnTo>
                  <a:cubicBezTo>
                    <a:pt x="4608" y="1917"/>
                    <a:pt x="4537" y="2000"/>
                    <a:pt x="4537" y="2084"/>
                  </a:cubicBezTo>
                  <a:lnTo>
                    <a:pt x="4537" y="6644"/>
                  </a:lnTo>
                  <a:lnTo>
                    <a:pt x="3287" y="6644"/>
                  </a:lnTo>
                  <a:lnTo>
                    <a:pt x="3287" y="2965"/>
                  </a:lnTo>
                  <a:cubicBezTo>
                    <a:pt x="3287" y="2881"/>
                    <a:pt x="3215" y="2798"/>
                    <a:pt x="3120" y="2798"/>
                  </a:cubicBezTo>
                  <a:lnTo>
                    <a:pt x="1382" y="2798"/>
                  </a:lnTo>
                  <a:cubicBezTo>
                    <a:pt x="1298" y="2798"/>
                    <a:pt x="1215" y="2881"/>
                    <a:pt x="1215" y="2965"/>
                  </a:cubicBezTo>
                  <a:lnTo>
                    <a:pt x="1215" y="6644"/>
                  </a:lnTo>
                  <a:lnTo>
                    <a:pt x="167" y="6644"/>
                  </a:lnTo>
                  <a:cubicBezTo>
                    <a:pt x="72" y="6644"/>
                    <a:pt x="1" y="6715"/>
                    <a:pt x="1" y="6810"/>
                  </a:cubicBezTo>
                  <a:cubicBezTo>
                    <a:pt x="1" y="6894"/>
                    <a:pt x="72" y="6965"/>
                    <a:pt x="167" y="6965"/>
                  </a:cubicBezTo>
                  <a:lnTo>
                    <a:pt x="11002" y="6965"/>
                  </a:lnTo>
                  <a:cubicBezTo>
                    <a:pt x="11085" y="6965"/>
                    <a:pt x="11157" y="6894"/>
                    <a:pt x="11157" y="6810"/>
                  </a:cubicBezTo>
                  <a:cubicBezTo>
                    <a:pt x="11145" y="6715"/>
                    <a:pt x="11073" y="6644"/>
                    <a:pt x="10990" y="6644"/>
                  </a:cubicBezTo>
                  <a:lnTo>
                    <a:pt x="9930" y="6644"/>
                  </a:lnTo>
                  <a:lnTo>
                    <a:pt x="9930" y="167"/>
                  </a:lnTo>
                  <a:cubicBezTo>
                    <a:pt x="9930" y="83"/>
                    <a:pt x="9859" y="0"/>
                    <a:pt x="976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799;p69"/>
            <p:cNvSpPr/>
            <p:nvPr/>
          </p:nvSpPr>
          <p:spPr>
            <a:xfrm>
              <a:off x="3544417" y="2427549"/>
              <a:ext cx="339568" cy="205415"/>
            </a:xfrm>
            <a:custGeom>
              <a:avLst/>
              <a:gdLst/>
              <a:ahLst/>
              <a:cxnLst/>
              <a:rect l="l" t="t" r="r" b="b"/>
              <a:pathLst>
                <a:path w="10669" h="6454" extrusionOk="0">
                  <a:moveTo>
                    <a:pt x="10157" y="0"/>
                  </a:moveTo>
                  <a:cubicBezTo>
                    <a:pt x="10125" y="0"/>
                    <a:pt x="10093" y="4"/>
                    <a:pt x="10061" y="12"/>
                  </a:cubicBezTo>
                  <a:lnTo>
                    <a:pt x="8656" y="191"/>
                  </a:lnTo>
                  <a:cubicBezTo>
                    <a:pt x="8382" y="214"/>
                    <a:pt x="8180" y="488"/>
                    <a:pt x="8216" y="762"/>
                  </a:cubicBezTo>
                  <a:cubicBezTo>
                    <a:pt x="8238" y="1032"/>
                    <a:pt x="8483" y="1217"/>
                    <a:pt x="8751" y="1217"/>
                  </a:cubicBezTo>
                  <a:cubicBezTo>
                    <a:pt x="8767" y="1217"/>
                    <a:pt x="8783" y="1216"/>
                    <a:pt x="8799" y="1215"/>
                  </a:cubicBezTo>
                  <a:lnTo>
                    <a:pt x="8906" y="1203"/>
                  </a:lnTo>
                  <a:lnTo>
                    <a:pt x="8906" y="1203"/>
                  </a:lnTo>
                  <a:cubicBezTo>
                    <a:pt x="7204" y="3191"/>
                    <a:pt x="5156" y="4215"/>
                    <a:pt x="3715" y="4727"/>
                  </a:cubicBezTo>
                  <a:cubicBezTo>
                    <a:pt x="1917" y="5370"/>
                    <a:pt x="524" y="5429"/>
                    <a:pt x="500" y="5429"/>
                  </a:cubicBezTo>
                  <a:cubicBezTo>
                    <a:pt x="227" y="5441"/>
                    <a:pt x="0" y="5679"/>
                    <a:pt x="12" y="5965"/>
                  </a:cubicBezTo>
                  <a:cubicBezTo>
                    <a:pt x="24" y="6239"/>
                    <a:pt x="250" y="6453"/>
                    <a:pt x="524" y="6453"/>
                  </a:cubicBezTo>
                  <a:lnTo>
                    <a:pt x="536" y="6453"/>
                  </a:lnTo>
                  <a:cubicBezTo>
                    <a:pt x="596" y="6453"/>
                    <a:pt x="2084" y="6394"/>
                    <a:pt x="4037" y="5703"/>
                  </a:cubicBezTo>
                  <a:cubicBezTo>
                    <a:pt x="5132" y="5322"/>
                    <a:pt x="6156" y="4798"/>
                    <a:pt x="7096" y="4167"/>
                  </a:cubicBezTo>
                  <a:cubicBezTo>
                    <a:pt x="7168" y="4120"/>
                    <a:pt x="7192" y="4013"/>
                    <a:pt x="7144" y="3941"/>
                  </a:cubicBezTo>
                  <a:cubicBezTo>
                    <a:pt x="7113" y="3895"/>
                    <a:pt x="7058" y="3869"/>
                    <a:pt x="7003" y="3869"/>
                  </a:cubicBezTo>
                  <a:cubicBezTo>
                    <a:pt x="6973" y="3869"/>
                    <a:pt x="6943" y="3877"/>
                    <a:pt x="6918" y="3893"/>
                  </a:cubicBezTo>
                  <a:cubicBezTo>
                    <a:pt x="5989" y="4513"/>
                    <a:pt x="5001" y="5025"/>
                    <a:pt x="3929" y="5394"/>
                  </a:cubicBezTo>
                  <a:cubicBezTo>
                    <a:pt x="2024" y="6084"/>
                    <a:pt x="596" y="6120"/>
                    <a:pt x="536" y="6120"/>
                  </a:cubicBezTo>
                  <a:cubicBezTo>
                    <a:pt x="429" y="6120"/>
                    <a:pt x="358" y="6049"/>
                    <a:pt x="358" y="5953"/>
                  </a:cubicBezTo>
                  <a:cubicBezTo>
                    <a:pt x="358" y="5846"/>
                    <a:pt x="429" y="5751"/>
                    <a:pt x="536" y="5751"/>
                  </a:cubicBezTo>
                  <a:cubicBezTo>
                    <a:pt x="548" y="5751"/>
                    <a:pt x="1989" y="5691"/>
                    <a:pt x="3834" y="5036"/>
                  </a:cubicBezTo>
                  <a:cubicBezTo>
                    <a:pt x="5406" y="4489"/>
                    <a:pt x="7632" y="3346"/>
                    <a:pt x="9454" y="1084"/>
                  </a:cubicBezTo>
                  <a:cubicBezTo>
                    <a:pt x="9534" y="969"/>
                    <a:pt x="9459" y="809"/>
                    <a:pt x="9315" y="809"/>
                  </a:cubicBezTo>
                  <a:cubicBezTo>
                    <a:pt x="9310" y="809"/>
                    <a:pt x="9304" y="809"/>
                    <a:pt x="9299" y="810"/>
                  </a:cubicBezTo>
                  <a:lnTo>
                    <a:pt x="8775" y="869"/>
                  </a:lnTo>
                  <a:cubicBezTo>
                    <a:pt x="8768" y="870"/>
                    <a:pt x="8761" y="871"/>
                    <a:pt x="8754" y="871"/>
                  </a:cubicBezTo>
                  <a:cubicBezTo>
                    <a:pt x="8676" y="871"/>
                    <a:pt x="8595" y="815"/>
                    <a:pt x="8573" y="738"/>
                  </a:cubicBezTo>
                  <a:cubicBezTo>
                    <a:pt x="8537" y="631"/>
                    <a:pt x="8620" y="512"/>
                    <a:pt x="8740" y="500"/>
                  </a:cubicBezTo>
                  <a:lnTo>
                    <a:pt x="10133" y="322"/>
                  </a:lnTo>
                  <a:cubicBezTo>
                    <a:pt x="10139" y="321"/>
                    <a:pt x="10146" y="320"/>
                    <a:pt x="10153" y="320"/>
                  </a:cubicBezTo>
                  <a:cubicBezTo>
                    <a:pt x="10253" y="320"/>
                    <a:pt x="10347" y="400"/>
                    <a:pt x="10347" y="500"/>
                  </a:cubicBezTo>
                  <a:lnTo>
                    <a:pt x="10347" y="1893"/>
                  </a:lnTo>
                  <a:cubicBezTo>
                    <a:pt x="10347" y="2000"/>
                    <a:pt x="10252" y="2072"/>
                    <a:pt x="10168" y="2072"/>
                  </a:cubicBezTo>
                  <a:cubicBezTo>
                    <a:pt x="10073" y="2072"/>
                    <a:pt x="9990" y="1988"/>
                    <a:pt x="9990" y="1893"/>
                  </a:cubicBezTo>
                  <a:lnTo>
                    <a:pt x="9990" y="1477"/>
                  </a:lnTo>
                  <a:cubicBezTo>
                    <a:pt x="9990" y="1417"/>
                    <a:pt x="9942" y="1346"/>
                    <a:pt x="9883" y="1334"/>
                  </a:cubicBezTo>
                  <a:cubicBezTo>
                    <a:pt x="9866" y="1324"/>
                    <a:pt x="9848" y="1319"/>
                    <a:pt x="9830" y="1319"/>
                  </a:cubicBezTo>
                  <a:cubicBezTo>
                    <a:pt x="9784" y="1319"/>
                    <a:pt x="9738" y="1347"/>
                    <a:pt x="9704" y="1381"/>
                  </a:cubicBezTo>
                  <a:cubicBezTo>
                    <a:pt x="9085" y="2119"/>
                    <a:pt x="8394" y="2810"/>
                    <a:pt x="7632" y="3382"/>
                  </a:cubicBezTo>
                  <a:cubicBezTo>
                    <a:pt x="7561" y="3441"/>
                    <a:pt x="7537" y="3548"/>
                    <a:pt x="7597" y="3608"/>
                  </a:cubicBezTo>
                  <a:cubicBezTo>
                    <a:pt x="7635" y="3646"/>
                    <a:pt x="7692" y="3674"/>
                    <a:pt x="7744" y="3674"/>
                  </a:cubicBezTo>
                  <a:cubicBezTo>
                    <a:pt x="7773" y="3674"/>
                    <a:pt x="7801" y="3665"/>
                    <a:pt x="7823" y="3643"/>
                  </a:cubicBezTo>
                  <a:cubicBezTo>
                    <a:pt x="8489" y="3131"/>
                    <a:pt x="9109" y="2548"/>
                    <a:pt x="9656" y="1917"/>
                  </a:cubicBezTo>
                  <a:cubicBezTo>
                    <a:pt x="9668" y="2179"/>
                    <a:pt x="9894" y="2405"/>
                    <a:pt x="10156" y="2405"/>
                  </a:cubicBezTo>
                  <a:cubicBezTo>
                    <a:pt x="10442" y="2405"/>
                    <a:pt x="10668" y="2179"/>
                    <a:pt x="10668" y="1893"/>
                  </a:cubicBezTo>
                  <a:lnTo>
                    <a:pt x="10668" y="500"/>
                  </a:lnTo>
                  <a:cubicBezTo>
                    <a:pt x="10621" y="369"/>
                    <a:pt x="10561" y="238"/>
                    <a:pt x="10466" y="131"/>
                  </a:cubicBezTo>
                  <a:cubicBezTo>
                    <a:pt x="10382" y="48"/>
                    <a:pt x="10270" y="0"/>
                    <a:pt x="1015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32" y="844168"/>
            <a:ext cx="4370832" cy="3278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390" y="844170"/>
            <a:ext cx="4370832" cy="3278125"/>
          </a:xfrm>
          <a:prstGeom prst="rect">
            <a:avLst/>
          </a:prstGeom>
        </p:spPr>
      </p:pic>
      <p:sp>
        <p:nvSpPr>
          <p:cNvPr id="17" name="Google Shape;171;p36"/>
          <p:cNvSpPr txBox="1">
            <a:spLocks/>
          </p:cNvSpPr>
          <p:nvPr/>
        </p:nvSpPr>
        <p:spPr>
          <a:xfrm>
            <a:off x="5062720" y="4256063"/>
            <a:ext cx="1931629" cy="695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rabi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alpha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mo"/>
              <a:buAutoNum type="romanLcPeriod"/>
              <a:defRPr sz="1200" b="0" i="0" u="none" strike="noStrike" cap="non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/>
              <a:t>r = </a:t>
            </a:r>
            <a:r>
              <a:rPr lang="sr-Latn-RS" sz="1400" dirty="0" smtClean="0"/>
              <a:t>0.2123</a:t>
            </a:r>
            <a:endParaRPr lang="nn-NO" sz="1400" dirty="0"/>
          </a:p>
        </p:txBody>
      </p:sp>
    </p:spTree>
    <p:extLst>
      <p:ext uri="{BB962C8B-B14F-4D97-AF65-F5344CB8AC3E}">
        <p14:creationId xmlns:p14="http://schemas.microsoft.com/office/powerpoint/2010/main" val="720383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subTitle" idx="1"/>
          </p:nvPr>
        </p:nvSpPr>
        <p:spPr>
          <a:xfrm>
            <a:off x="585785" y="4351450"/>
            <a:ext cx="24129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Sara Stefanovi</a:t>
            </a:r>
            <a:r>
              <a:rPr lang="sr-Latn-RS" dirty="0" smtClean="0"/>
              <a:t>ć IN55/2020</a:t>
            </a:r>
            <a:endParaRPr dirty="0"/>
          </a:p>
        </p:txBody>
      </p:sp>
      <p:sp>
        <p:nvSpPr>
          <p:cNvPr id="135" name="Google Shape;135;p33"/>
          <p:cNvSpPr txBox="1">
            <a:spLocks noGrp="1"/>
          </p:cNvSpPr>
          <p:nvPr>
            <p:ph type="ctrTitle"/>
          </p:nvPr>
        </p:nvSpPr>
        <p:spPr>
          <a:xfrm>
            <a:off x="748300" y="1037488"/>
            <a:ext cx="6784200" cy="179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Hvala</a:t>
            </a:r>
            <a:r>
              <a:rPr lang="en-US" sz="2800" dirty="0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 </a:t>
            </a:r>
            <a:r>
              <a:rPr lang="en-US" sz="2800" dirty="0" err="1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na</a:t>
            </a:r>
            <a:r>
              <a:rPr lang="en-US" sz="2800" dirty="0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 pa</a:t>
            </a:r>
            <a:r>
              <a:rPr lang="sr-Latn-RS" sz="2800" dirty="0" smtClean="0">
                <a:latin typeface="Inter" panose="020B0604020202020204" charset="0"/>
                <a:ea typeface="Inter" panose="020B0604020202020204" charset="0"/>
                <a:cs typeface="Work Sans Light"/>
                <a:sym typeface="Work Sans Light"/>
              </a:rPr>
              <a:t>žnji!</a:t>
            </a:r>
            <a:endParaRPr sz="2800" dirty="0">
              <a:latin typeface="Inter" panose="020B0604020202020204" charset="0"/>
              <a:ea typeface="Inter" panose="020B0604020202020204" charset="0"/>
              <a:cs typeface="Work Sans Light"/>
              <a:sym typeface="Work Sans Light"/>
            </a:endParaRPr>
          </a:p>
        </p:txBody>
      </p:sp>
      <p:cxnSp>
        <p:nvCxnSpPr>
          <p:cNvPr id="137" name="Google Shape;137;p33"/>
          <p:cNvCxnSpPr/>
          <p:nvPr/>
        </p:nvCxnSpPr>
        <p:spPr>
          <a:xfrm rot="10800000">
            <a:off x="-699350" y="4351450"/>
            <a:ext cx="3307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99989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m Construction Project Proposal by Slidesgo">
  <a:themeElements>
    <a:clrScheme name="Simple Light">
      <a:dk1>
        <a:srgbClr val="1C1C1B"/>
      </a:dk1>
      <a:lt1>
        <a:srgbClr val="FFFFFF"/>
      </a:lt1>
      <a:dk2>
        <a:srgbClr val="242E3D"/>
      </a:dk2>
      <a:lt2>
        <a:srgbClr val="2F4560"/>
      </a:lt2>
      <a:accent1>
        <a:srgbClr val="EF552C"/>
      </a:accent1>
      <a:accent2>
        <a:srgbClr val="FF8C6D"/>
      </a:accent2>
      <a:accent3>
        <a:srgbClr val="FFBFAD"/>
      </a:accent3>
      <a:accent4>
        <a:srgbClr val="879BB6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412</Words>
  <Application>Microsoft Office PowerPoint</Application>
  <PresentationFormat>On-screen Show (16:9)</PresentationFormat>
  <Paragraphs>96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Work Sans Light</vt:lpstr>
      <vt:lpstr>Arimo</vt:lpstr>
      <vt:lpstr>Work Sans SemiBold</vt:lpstr>
      <vt:lpstr>Work Sans Medium</vt:lpstr>
      <vt:lpstr>Inter</vt:lpstr>
      <vt:lpstr>Arial</vt:lpstr>
      <vt:lpstr>Dam Construction Project Proposal by Slidesgo</vt:lpstr>
      <vt:lpstr>Eksplorativna analiza kvaliteta sna i njegova korelacija sa zdravljem i načinom života</vt:lpstr>
      <vt:lpstr>Odabir skupa podataka</vt:lpstr>
      <vt:lpstr>Kvalitet sna u zavisnosti od pola</vt:lpstr>
      <vt:lpstr>ANOVA</vt:lpstr>
      <vt:lpstr>Korelacija između godina i kvaliteta sna dve kontinuirane varijable</vt:lpstr>
      <vt:lpstr>Kvalitet sna u zavisnosti od godina</vt:lpstr>
      <vt:lpstr>Korelacija između nivoa stresa i kvaliteta sna </vt:lpstr>
      <vt:lpstr>Kvalitet sna u zavisnosti od nivoa stresa</vt:lpstr>
      <vt:lpstr>Kvalitet sna u zavisnosti od nivoa stresa</vt:lpstr>
      <vt:lpstr>Kvalitet sna u zavisnosti od BMI kategorije</vt:lpstr>
      <vt:lpstr>ANOVA između svake BMI kategorije</vt:lpstr>
      <vt:lpstr>ANOVA između svake BMI kategorije - rezultat</vt:lpstr>
      <vt:lpstr>Dužina sna u zavisnosti od prisutnosti poremećaja sna</vt:lpstr>
      <vt:lpstr>Korelacija između kvaliteta sna i otkucaja srca </vt:lpstr>
      <vt:lpstr>Kvalitet sna u zavisnosti od otkucaja srca</vt:lpstr>
      <vt:lpstr>Korelacija između kvaliteta sna i fizičke aktivnosti </vt:lpstr>
      <vt:lpstr>Korelacija između dužine sna i fizičke aktivnosti </vt:lpstr>
      <vt:lpstr>Kvalitet sna u zavisnosti od fizičke aktivnosti</vt:lpstr>
      <vt:lpstr>Hvala na pažnji!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Eksplorativna analiza kvaliteta sna i njegova korelacija sa zdravljem i načinom života</dc:title>
  <dc:creator>User</dc:creator>
  <cp:lastModifiedBy>User</cp:lastModifiedBy>
  <cp:revision>43</cp:revision>
  <dcterms:modified xsi:type="dcterms:W3CDTF">2023-06-22T06:32:34Z</dcterms:modified>
</cp:coreProperties>
</file>